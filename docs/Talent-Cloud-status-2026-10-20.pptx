
<file path=[Content_Types].xml><?xml version="1.0" encoding="utf-8"?>
<Types xmlns="http://schemas.openxmlformats.org/package/2006/content-types"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8"/>
    <p:sldId id="273" r:id="rId19"/>
    <p:sldId id="274" r:id="rId20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8D3A561-21D1-4C2A-B8C9-068E9D4BF4EF}"/>
              </a:ext>
            </a:extLst>
          </p:cNvPr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1A283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E4408E4-8263-4E76-ACDB-4D3FBAC2EA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953500" y="1257300"/>
            <a:ext cx="2667000" cy="2667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3E1D56C-D74B-4576-AFE9-9D393162291F}"/>
              </a:ext>
            </a:extLst>
          </p:cNvPr>
          <p:cNvSpPr txBox="1"/>
          <p:nvPr/>
        </p:nvSpPr>
        <p:spPr>
          <a:xfrm>
            <a:off x="762000" y="1428750"/>
            <a:ext cx="7429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EDE4"/>
                </a:solidFill>
                <a:latin typeface="Montserrat"/>
                <a:ea typeface="Montserrat"/>
              </a:rPr>
              <a:t>Sharm Dreams Talent Cloud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A5CF2AA-B754-4731-8D8A-CA4F749C8FB6}"/>
              </a:ext>
            </a:extLst>
          </p:cNvPr>
          <p:cNvSpPr/>
          <p:nvPr/>
        </p:nvSpPr>
        <p:spPr>
          <a:xfrm>
            <a:off x="762000" y="23622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058871-0540-4C6F-8FEA-81B321F49A3C}"/>
              </a:ext>
            </a:extLst>
          </p:cNvPr>
          <p:cNvSpPr txBox="1"/>
          <p:nvPr/>
        </p:nvSpPr>
        <p:spPr>
          <a:xfrm>
            <a:off x="762000" y="2609850"/>
            <a:ext cx="723900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1800" i="1">
                <a:solidFill>
                  <a:srgbClr val="A79E92"/>
                </a:solidFill>
                <a:latin typeface="Inter"/>
                <a:ea typeface="Inter"/>
              </a:rPr>
              <a:t>State of the build — 20 October 2026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B541A07-F7AA-4BF1-8040-B76020DEBC91}"/>
              </a:ext>
            </a:extLst>
          </p:cNvPr>
          <p:cNvSpPr txBox="1"/>
          <p:nvPr/>
        </p:nvSpPr>
        <p:spPr>
          <a:xfrm>
            <a:off x="762000" y="3105150"/>
            <a:ext cx="723900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2000"/>
              </a:lnSpc>
            </a:pPr>
            <a:r>
              <a:rPr sz="1350">
                <a:solidFill>
                  <a:srgbClr val="C9C1B6"/>
                </a:solidFill>
                <a:latin typeface="Inter"/>
                <a:ea typeface="Inter"/>
              </a:rPr>
              <a:t>An AI-driven HRMS, ATS and skill-assessment platform for a multi-company group: a recruiter portal, a public careers site, a candidate assessment portal, and an assistant that can act on every console.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CE06C96-E199-4BAD-9DE3-A7591EDEF62C}"/>
              </a:ext>
            </a:extLst>
          </p:cNvPr>
          <p:cNvSpPr txBox="1"/>
          <p:nvPr/>
        </p:nvSpPr>
        <p:spPr>
          <a:xfrm>
            <a:off x="762000" y="4438650"/>
            <a:ext cx="190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B98F5E"/>
                </a:solidFill>
                <a:latin typeface="Montserrat"/>
                <a:ea typeface="Montserrat"/>
              </a:rPr>
              <a:t>320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05E3806-DD3C-445B-B60F-7C96B5FD4272}"/>
              </a:ext>
            </a:extLst>
          </p:cNvPr>
          <p:cNvSpPr txBox="1"/>
          <p:nvPr/>
        </p:nvSpPr>
        <p:spPr>
          <a:xfrm>
            <a:off x="762000" y="499110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79E92"/>
                </a:solidFill>
                <a:latin typeface="Inter"/>
                <a:ea typeface="Inter"/>
              </a:rPr>
              <a:t>tasks closed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4F070FC-9ED4-46E0-8A40-998A4FB4CC46}"/>
              </a:ext>
            </a:extLst>
          </p:cNvPr>
          <p:cNvSpPr txBox="1"/>
          <p:nvPr/>
        </p:nvSpPr>
        <p:spPr>
          <a:xfrm>
            <a:off x="2857500" y="4438650"/>
            <a:ext cx="190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2EDE4"/>
                </a:solidFill>
                <a:latin typeface="Montserrat"/>
                <a:ea typeface="Montserrat"/>
              </a:rPr>
              <a:t>47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0CB0FD1-C441-472D-A554-6C417E978705}"/>
              </a:ext>
            </a:extLst>
          </p:cNvPr>
          <p:cNvSpPr txBox="1"/>
          <p:nvPr/>
        </p:nvSpPr>
        <p:spPr>
          <a:xfrm>
            <a:off x="2857500" y="499110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79E92"/>
                </a:solidFill>
                <a:latin typeface="Inter"/>
                <a:ea typeface="Inter"/>
              </a:rPr>
              <a:t>still open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CFCF7A5-9638-4CB6-B053-BDA5251E53A9}"/>
              </a:ext>
            </a:extLst>
          </p:cNvPr>
          <p:cNvSpPr txBox="1"/>
          <p:nvPr/>
        </p:nvSpPr>
        <p:spPr>
          <a:xfrm>
            <a:off x="5143500" y="4438650"/>
            <a:ext cx="2095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2EDE4"/>
                </a:solidFill>
                <a:latin typeface="Montserrat"/>
                <a:ea typeface="Montserrat"/>
              </a:rPr>
              <a:t>215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036FE4-CF6D-4621-8772-931AC995A7CF}"/>
              </a:ext>
            </a:extLst>
          </p:cNvPr>
          <p:cNvSpPr txBox="1"/>
          <p:nvPr/>
        </p:nvSpPr>
        <p:spPr>
          <a:xfrm>
            <a:off x="5143500" y="4991100"/>
            <a:ext cx="2286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79E92"/>
                </a:solidFill>
                <a:latin typeface="Inter"/>
                <a:ea typeface="Inter"/>
              </a:rPr>
              <a:t>commits on main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ED84E73-AF38-45AD-B25B-5E32075E384F}"/>
              </a:ext>
            </a:extLst>
          </p:cNvPr>
          <p:cNvSpPr txBox="1"/>
          <p:nvPr/>
        </p:nvSpPr>
        <p:spPr>
          <a:xfrm>
            <a:off x="762000" y="6096000"/>
            <a:ext cx="7239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F6862"/>
                </a:solidFill>
                <a:latin typeface="Inter"/>
                <a:ea typeface="Inter"/>
              </a:rPr>
              <a:t>Prepared for the product owner · every figure checked against the repository today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665BE49-7248-44DB-955B-719F1C867DD0}"/>
              </a:ext>
            </a:extLst>
          </p:cNvPr>
          <p:cNvSpPr txBox="1"/>
          <p:nvPr/>
        </p:nvSpPr>
        <p:spPr>
          <a:xfrm>
            <a:off x="8572500" y="4476750"/>
            <a:ext cx="3429000" cy="11430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300">
                <a:solidFill>
                  <a:srgbClr val="C9C1B6"/>
                </a:solidFill>
                <a:latin typeface="Inter"/>
                <a:ea typeface="Inter"/>
              </a:rPr>
              <a:t>16 guarded pages · 21 route handlers</a:t>
            </a:r>
            <a:br/>
            <a:r>
              <a:rPr sz="1300">
                <a:solidFill>
                  <a:srgbClr val="C9C1B6"/>
                </a:solidFill>
                <a:latin typeface="Inter"/>
                <a:ea typeface="Inter"/>
              </a:rPr>
              <a:t>41 tables · 94 row-level policies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B3E379D-B7F4-42CD-B191-B92FAFF9B670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Three surfaces, one record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FF51261-1B9F-452F-9AA7-6B43F2351510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4208CA7-4B5D-44C9-8C8A-038A23C2753E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What the product is, in the shape a recruiter, an applicant and a sitting candidate each meet it.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DB8F4BA-20E1-4050-A9E5-E8DAD417554C}"/>
              </a:ext>
            </a:extLst>
          </p:cNvPr>
          <p:cNvSpPr/>
          <p:nvPr/>
        </p:nvSpPr>
        <p:spPr>
          <a:xfrm>
            <a:off x="762000" y="1809750"/>
            <a:ext cx="3295650" cy="41910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E24E869-93B1-4E6E-A6B3-8ADBE776AAD7}"/>
              </a:ext>
            </a:extLst>
          </p:cNvPr>
          <p:cNvSpPr/>
          <p:nvPr/>
        </p:nvSpPr>
        <p:spPr>
          <a:xfrm>
            <a:off x="4438650" y="1809750"/>
            <a:ext cx="3295650" cy="41910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2C86D76-2826-4F6B-A6A8-171B2BEB54C9}"/>
              </a:ext>
            </a:extLst>
          </p:cNvPr>
          <p:cNvSpPr/>
          <p:nvPr/>
        </p:nvSpPr>
        <p:spPr>
          <a:xfrm>
            <a:off x="8115300" y="1809750"/>
            <a:ext cx="3314700" cy="41910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A167CA-807B-41DE-9765-92F03220028B}"/>
              </a:ext>
            </a:extLst>
          </p:cNvPr>
          <p:cNvSpPr txBox="1"/>
          <p:nvPr/>
        </p:nvSpPr>
        <p:spPr>
          <a:xfrm>
            <a:off x="990600" y="2057400"/>
            <a:ext cx="28384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98F5E"/>
                </a:solidFill>
                <a:latin typeface="Inter"/>
                <a:ea typeface="Inter"/>
              </a:rPr>
              <a:t>RECRUITER PORTAL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D4C7E9-2355-41D9-8193-295408FDA4F1}"/>
              </a:ext>
            </a:extLst>
          </p:cNvPr>
          <p:cNvSpPr txBox="1"/>
          <p:nvPr/>
        </p:nvSpPr>
        <p:spPr>
          <a:xfrm>
            <a:off x="990600" y="2324100"/>
            <a:ext cx="28384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2EDE4"/>
                </a:solidFill>
                <a:latin typeface="Montserrat"/>
                <a:ea typeface="Montserrat"/>
              </a:rPr>
              <a:t>16 guarded pages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CA6F61-D611-4657-9BCD-3D3547C77A13}"/>
              </a:ext>
            </a:extLst>
          </p:cNvPr>
          <p:cNvSpPr txBox="1"/>
          <p:nvPr/>
        </p:nvSpPr>
        <p:spPr>
          <a:xfrm>
            <a:off x="990600" y="2705100"/>
            <a:ext cx="2838450" cy="3048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Dashboard, analytics, reports, candidates, jobs, questions, assessments, interviews, onboarding, sourcing, WhatsApp outbox, files, time, activity, assistant, settings.</a:t>
            </a:r>
            <a:br/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Every one behind a page-level requireStaff, a permission check on the write, and a typed route table that fails the build if a page ships unguarded.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CB356D7-43DD-4FF9-A0C9-F012883363C8}"/>
              </a:ext>
            </a:extLst>
          </p:cNvPr>
          <p:cNvSpPr txBox="1"/>
          <p:nvPr/>
        </p:nvSpPr>
        <p:spPr>
          <a:xfrm>
            <a:off x="4667250" y="2057400"/>
            <a:ext cx="28384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98F5E"/>
                </a:solidFill>
                <a:latin typeface="Inter"/>
                <a:ea typeface="Inter"/>
              </a:rPr>
              <a:t>PUBLIC CAREERS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74165E7-6AB0-44A3-BF7B-E760F5672097}"/>
              </a:ext>
            </a:extLst>
          </p:cNvPr>
          <p:cNvSpPr txBox="1"/>
          <p:nvPr/>
        </p:nvSpPr>
        <p:spPr>
          <a:xfrm>
            <a:off x="4667250" y="2324100"/>
            <a:ext cx="28384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2EDE4"/>
                </a:solidFill>
                <a:latin typeface="Montserrat"/>
                <a:ea typeface="Montserrat"/>
              </a:rPr>
              <a:t>Board, apply, chatbot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BDCC1DC-6ADD-4FA3-8A6D-2B9BC78C70AC}"/>
              </a:ext>
            </a:extLst>
          </p:cNvPr>
          <p:cNvSpPr txBox="1"/>
          <p:nvPr/>
        </p:nvSpPr>
        <p:spPr>
          <a:xfrm>
            <a:off x="4667250" y="2705100"/>
            <a:ext cx="2838450" cy="3048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filterable job board built on each company's own careers profile, an application that reads a CV into the form, gate questions the applicant never sees as such, and a careers chatbot that captures a lead.</a:t>
            </a:r>
            <a:br/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polite not-accepted page closes the loop when a gate rules someone out.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88B7989-EFE2-49B7-9E14-865FC6C61C3E}"/>
              </a:ext>
            </a:extLst>
          </p:cNvPr>
          <p:cNvSpPr txBox="1"/>
          <p:nvPr/>
        </p:nvSpPr>
        <p:spPr>
          <a:xfrm>
            <a:off x="8343900" y="205740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98F5E"/>
                </a:solidFill>
                <a:latin typeface="Inter"/>
                <a:ea typeface="Inter"/>
              </a:rPr>
              <a:t>CANDIDATE PORTAL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1495AE8-E2D1-40C4-AAF6-5EC779DE8FC4}"/>
              </a:ext>
            </a:extLst>
          </p:cNvPr>
          <p:cNvSpPr txBox="1"/>
          <p:nvPr/>
        </p:nvSpPr>
        <p:spPr>
          <a:xfrm>
            <a:off x="8343900" y="2324100"/>
            <a:ext cx="285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2EDE4"/>
                </a:solidFill>
                <a:latin typeface="Montserrat"/>
                <a:ea typeface="Montserrat"/>
              </a:rPr>
              <a:t>Tracker and timed tests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FF58C85-E200-4622-96FE-BFA11EF6A640}"/>
              </a:ext>
            </a:extLst>
          </p:cNvPr>
          <p:cNvSpPr txBox="1"/>
          <p:nvPr/>
        </p:nvSpPr>
        <p:spPr>
          <a:xfrm>
            <a:off x="8343900" y="2705100"/>
            <a:ext cx="2857500" cy="3048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An application tracker, a notification inbox, and assessment links that are tokenized and time-boxed: Excel models, video pitches, case studies and multiple choice.</a:t>
            </a:r>
            <a:br/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Autosave, focus tracking and copy events are recorded as integrity findings a reviewer scores.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45A095E-7D6A-4E60-B68D-60BB699EAFD9}"/>
              </a:ext>
            </a:extLst>
          </p:cNvPr>
          <p:cNvSpPr txBox="1"/>
          <p:nvPr/>
        </p:nvSpPr>
        <p:spPr>
          <a:xfrm>
            <a:off x="762000" y="62293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79E92"/>
                </a:solidFill>
                <a:latin typeface="Inter"/>
                <a:ea typeface="Inter"/>
              </a:rPr>
              <a:t>One record underneath: 41 tables, and every read and write on all three surfaces goes through the same row-level-security-guarded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891CD0B-EAFE-417A-B963-A14D7354136D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The build, in numbers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ACB4D1A-DECC-4B0B-A3CD-B03322ACD1CF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A90538F-0906-421F-B60B-62E408E48D7A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Counted from the working tree at commit 7eb9f96, 20 October 2026.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2947DDD-1F84-4E2B-A28F-C6D3118C2FE6}"/>
              </a:ext>
            </a:extLst>
          </p:cNvPr>
          <p:cNvSpPr txBox="1"/>
          <p:nvPr/>
        </p:nvSpPr>
        <p:spPr>
          <a:xfrm>
            <a:off x="762000" y="1905000"/>
            <a:ext cx="33147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B98F5E"/>
                </a:solidFill>
                <a:latin typeface="Montserrat"/>
                <a:ea typeface="Montserrat"/>
              </a:rPr>
              <a:t>310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AA4A41D-91CB-463D-B32F-0B2CC2C205A7}"/>
              </a:ext>
            </a:extLst>
          </p:cNvPr>
          <p:cNvSpPr txBox="1"/>
          <p:nvPr/>
        </p:nvSpPr>
        <p:spPr>
          <a:xfrm>
            <a:off x="762000" y="2552700"/>
            <a:ext cx="3048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C1B6"/>
                </a:solidFill>
                <a:latin typeface="Inter"/>
                <a:ea typeface="Inter"/>
              </a:rPr>
              <a:t>TypeScript source files, in 16 module domains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BBA24E1-1ECE-4D54-9F1D-DDD633E8821D}"/>
              </a:ext>
            </a:extLst>
          </p:cNvPr>
          <p:cNvSpPr txBox="1"/>
          <p:nvPr/>
        </p:nvSpPr>
        <p:spPr>
          <a:xfrm>
            <a:off x="4438650" y="1905000"/>
            <a:ext cx="33147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B98F5E"/>
                </a:solidFill>
                <a:latin typeface="Montserrat"/>
                <a:ea typeface="Montserrat"/>
              </a:rPr>
              <a:t>215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8DCD786-3CAD-4FC8-B36C-C6A3379C80C9}"/>
              </a:ext>
            </a:extLst>
          </p:cNvPr>
          <p:cNvSpPr txBox="1"/>
          <p:nvPr/>
        </p:nvSpPr>
        <p:spPr>
          <a:xfrm>
            <a:off x="4438650" y="2552700"/>
            <a:ext cx="3048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C1B6"/>
                </a:solidFill>
                <a:latin typeface="Inter"/>
                <a:ea typeface="Inter"/>
              </a:rPr>
              <a:t>Commits on main, each one a single reviewed change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373D433-149F-4A07-80DE-A170B8AD2592}"/>
              </a:ext>
            </a:extLst>
          </p:cNvPr>
          <p:cNvSpPr txBox="1"/>
          <p:nvPr/>
        </p:nvSpPr>
        <p:spPr>
          <a:xfrm>
            <a:off x="8115300" y="1905000"/>
            <a:ext cx="33147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B98F5E"/>
                </a:solidFill>
                <a:latin typeface="Montserrat"/>
                <a:ea typeface="Montserrat"/>
              </a:rPr>
              <a:t>47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9021028-E26C-479B-B55B-ED04225236F8}"/>
              </a:ext>
            </a:extLst>
          </p:cNvPr>
          <p:cNvSpPr txBox="1"/>
          <p:nvPr/>
        </p:nvSpPr>
        <p:spPr>
          <a:xfrm>
            <a:off x="8115300" y="2552700"/>
            <a:ext cx="3048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C1B6"/>
                </a:solidFill>
                <a:latin typeface="Inter"/>
                <a:ea typeface="Inter"/>
              </a:rPr>
              <a:t>Server-action modules holding the guarded writes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F9995D2-62A9-4A71-87F5-7751A54E28A3}"/>
              </a:ext>
            </a:extLst>
          </p:cNvPr>
          <p:cNvSpPr/>
          <p:nvPr/>
        </p:nvSpPr>
        <p:spPr>
          <a:xfrm>
            <a:off x="762000" y="3390900"/>
            <a:ext cx="10668000" cy="9525"/>
          </a:xfrm>
          <a:prstGeom prst="rect">
            <a:avLst/>
          </a:prstGeom>
          <a:solidFill>
            <a:srgbClr val="3531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D7F6739-6240-4053-8D6B-B17DE5F6C541}"/>
              </a:ext>
            </a:extLst>
          </p:cNvPr>
          <p:cNvSpPr txBox="1"/>
          <p:nvPr/>
        </p:nvSpPr>
        <p:spPr>
          <a:xfrm>
            <a:off x="762000" y="3810000"/>
            <a:ext cx="33147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F2EDE4"/>
                </a:solidFill>
                <a:latin typeface="Montserrat"/>
                <a:ea typeface="Montserrat"/>
              </a:rPr>
              <a:t>21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B35DB63-7803-4860-8554-98C938FC3A25}"/>
              </a:ext>
            </a:extLst>
          </p:cNvPr>
          <p:cNvSpPr txBox="1"/>
          <p:nvPr/>
        </p:nvSpPr>
        <p:spPr>
          <a:xfrm>
            <a:off x="762000" y="4457700"/>
            <a:ext cx="3048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C1B6"/>
                </a:solidFill>
                <a:latin typeface="Inter"/>
                <a:ea typeface="Inter"/>
              </a:rPr>
              <a:t>Route handlers: webhooks, cron, live stream, exports, uploads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E86121A-FD7E-4B13-9B8C-4C20E74ED25B}"/>
              </a:ext>
            </a:extLst>
          </p:cNvPr>
          <p:cNvSpPr txBox="1"/>
          <p:nvPr/>
        </p:nvSpPr>
        <p:spPr>
          <a:xfrm>
            <a:off x="4438650" y="3810000"/>
            <a:ext cx="33147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F2EDE4"/>
                </a:solidFill>
                <a:latin typeface="Montserrat"/>
                <a:ea typeface="Montserrat"/>
              </a:rPr>
              <a:t>41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F23A16F-9552-4F6E-B89A-7891E260C291}"/>
              </a:ext>
            </a:extLst>
          </p:cNvPr>
          <p:cNvSpPr txBox="1"/>
          <p:nvPr/>
        </p:nvSpPr>
        <p:spPr>
          <a:xfrm>
            <a:off x="4438650" y="4457700"/>
            <a:ext cx="3048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C1B6"/>
                </a:solidFill>
                <a:latin typeface="Inter"/>
                <a:ea typeface="Inter"/>
              </a:rPr>
              <a:t>Tables in the schema of record, plus 28 migration files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9228FE2-123C-4BDF-A4DA-0177B6158D61}"/>
              </a:ext>
            </a:extLst>
          </p:cNvPr>
          <p:cNvSpPr txBox="1"/>
          <p:nvPr/>
        </p:nvSpPr>
        <p:spPr>
          <a:xfrm>
            <a:off x="8115300" y="3810000"/>
            <a:ext cx="33147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F2EDE4"/>
                </a:solidFill>
                <a:latin typeface="Montserrat"/>
                <a:ea typeface="Montserrat"/>
              </a:rPr>
              <a:t>94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4FE8948-2E3D-4EF4-8135-883DFFAE140E}"/>
              </a:ext>
            </a:extLst>
          </p:cNvPr>
          <p:cNvSpPr txBox="1"/>
          <p:nvPr/>
        </p:nvSpPr>
        <p:spPr>
          <a:xfrm>
            <a:off x="8115300" y="4457700"/>
            <a:ext cx="3048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C1B6"/>
                </a:solidFill>
                <a:latin typeface="Inter"/>
                <a:ea typeface="Inter"/>
              </a:rPr>
              <a:t>Row-level security policies, on every table that holds a person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1C94914-4E80-44D6-BCE9-669D2F9B2017}"/>
              </a:ext>
            </a:extLst>
          </p:cNvPr>
          <p:cNvSpPr txBox="1"/>
          <p:nvPr/>
        </p:nvSpPr>
        <p:spPr>
          <a:xfrm>
            <a:off x="762000" y="5905500"/>
            <a:ext cx="10668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 i="1">
                <a:solidFill>
                  <a:srgbClr val="A79E92"/>
                </a:solidFill>
                <a:latin typeface="Inter"/>
                <a:ea typeface="Inter"/>
              </a:rPr>
              <a:t>The honest caveat: these are code counts, not usage counts. The portal has never carried real recruiting volume, so nothing here says the system works under load — only that the surface exists and passes its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918FF25-8C9C-410B-9685-0404CA74F5A0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Seven phases to get here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062D2EB-8502-4D9F-A4D2-E229216C0793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C194515-A200-4204-B805-D898651BC9B4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The order the work actually landed in — each phase behind the same gates.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EBF331-5218-481C-A913-893B15CCD86F}"/>
              </a:ext>
            </a:extLst>
          </p:cNvPr>
          <p:cNvSpPr/>
          <p:nvPr/>
        </p:nvSpPr>
        <p:spPr>
          <a:xfrm>
            <a:off x="762000" y="2209800"/>
            <a:ext cx="10668000" cy="19050"/>
          </a:xfrm>
          <a:prstGeom prst="rect">
            <a:avLst/>
          </a:prstGeom>
          <a:solidFill>
            <a:srgbClr val="3531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BE13D09-E1E7-4BFA-BFF0-A0425B644EA8}"/>
              </a:ext>
            </a:extLst>
          </p:cNvPr>
          <p:cNvSpPr txBox="1"/>
          <p:nvPr/>
        </p:nvSpPr>
        <p:spPr>
          <a:xfrm>
            <a:off x="762000" y="2495550"/>
            <a:ext cx="1409700" cy="2857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8F5E"/>
                </a:solidFill>
                <a:latin typeface="Montserrat"/>
                <a:ea typeface="Montserrat"/>
              </a:rPr>
              <a:t>01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EDE4"/>
                </a:solidFill>
                <a:latin typeface="Inter"/>
                <a:ea typeface="Inter"/>
              </a:rPr>
              <a:t>Foundation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Schema of record, staff roles, permissions, the shell.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5C0F2F-8800-4AC0-85A9-61137638FE42}"/>
              </a:ext>
            </a:extLst>
          </p:cNvPr>
          <p:cNvSpPr txBox="1"/>
          <p:nvPr/>
        </p:nvSpPr>
        <p:spPr>
          <a:xfrm>
            <a:off x="2286000" y="2495550"/>
            <a:ext cx="1409700" cy="2857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8F5E"/>
                </a:solidFill>
                <a:latin typeface="Montserrat"/>
                <a:ea typeface="Montserrat"/>
              </a:rPr>
              <a:t>02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EDE4"/>
                </a:solidFill>
                <a:latin typeface="Inter"/>
                <a:ea typeface="Inter"/>
              </a:rPr>
              <a:t>Screening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AI screen on apply, graded tests, per-question rationale.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1252F1-E7B0-42C5-8C55-7A43669C06F1}"/>
              </a:ext>
            </a:extLst>
          </p:cNvPr>
          <p:cNvSpPr txBox="1"/>
          <p:nvPr/>
        </p:nvSpPr>
        <p:spPr>
          <a:xfrm>
            <a:off x="3810000" y="2495550"/>
            <a:ext cx="1409700" cy="2857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8F5E"/>
                </a:solidFill>
                <a:latin typeface="Montserrat"/>
                <a:ea typeface="Montserrat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EDE4"/>
                </a:solidFill>
                <a:latin typeface="Inter"/>
                <a:ea typeface="Inter"/>
              </a:rPr>
              <a:t>Messaging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WhatsApp queue, SMTP email, in-app notices, the outbox.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8C692C-2B27-4A7E-B85C-7226EFA043E2}"/>
              </a:ext>
            </a:extLst>
          </p:cNvPr>
          <p:cNvSpPr txBox="1"/>
          <p:nvPr/>
        </p:nvSpPr>
        <p:spPr>
          <a:xfrm>
            <a:off x="5334000" y="2495550"/>
            <a:ext cx="1409700" cy="2857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8F5E"/>
                </a:solidFill>
                <a:latin typeface="Montserrat"/>
                <a:ea typeface="Montserrat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EDE4"/>
                </a:solidFill>
                <a:latin typeface="Inter"/>
                <a:ea typeface="Inter"/>
              </a:rPr>
              <a:t>Sourcing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Prospect import, AI profile reads, convert to application.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01C7C54-CE9D-4B19-A9AF-E25033D6F37D}"/>
              </a:ext>
            </a:extLst>
          </p:cNvPr>
          <p:cNvSpPr txBox="1"/>
          <p:nvPr/>
        </p:nvSpPr>
        <p:spPr>
          <a:xfrm>
            <a:off x="6858000" y="2495550"/>
            <a:ext cx="1409700" cy="2857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8F5E"/>
                </a:solidFill>
                <a:latin typeface="Montserrat"/>
                <a:ea typeface="Montserrat"/>
              </a:rPr>
              <a:t>05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EDE4"/>
                </a:solidFill>
                <a:latin typeface="Inter"/>
                <a:ea typeface="Inter"/>
              </a:rPr>
              <a:t>Assistant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 chat that reads every console and needs approval to write.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F2DE3B8-0572-4314-B287-831792AAB777}"/>
              </a:ext>
            </a:extLst>
          </p:cNvPr>
          <p:cNvSpPr txBox="1"/>
          <p:nvPr/>
        </p:nvSpPr>
        <p:spPr>
          <a:xfrm>
            <a:off x="8382000" y="2495550"/>
            <a:ext cx="1409700" cy="2857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8F5E"/>
                </a:solidFill>
                <a:latin typeface="Montserrat"/>
                <a:ea typeface="Montserrat"/>
              </a:rPr>
              <a:t>06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EDE4"/>
                </a:solidFill>
                <a:latin typeface="Inter"/>
                <a:ea typeface="Inter"/>
              </a:rPr>
              <a:t>Evidence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Analytics, reports, time, activity trails, live refresh.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4A4F38-C22A-4264-9794-E6D017095106}"/>
              </a:ext>
            </a:extLst>
          </p:cNvPr>
          <p:cNvSpPr txBox="1"/>
          <p:nvPr/>
        </p:nvSpPr>
        <p:spPr>
          <a:xfrm>
            <a:off x="9906000" y="2495550"/>
            <a:ext cx="1524000" cy="2857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8F5E"/>
                </a:solidFill>
                <a:latin typeface="Montserrat"/>
                <a:ea typeface="Montserrat"/>
              </a:rPr>
              <a:t>07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EDE4"/>
                </a:solidFill>
                <a:latin typeface="Inter"/>
                <a:ea typeface="Inter"/>
              </a:rPr>
              <a:t>Honesty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Copy made to claim only its own code; offer PDF; i18n.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4DE3623-487B-4E0A-8D5F-F5C61C64237E}"/>
              </a:ext>
            </a:extLst>
          </p:cNvPr>
          <p:cNvSpPr txBox="1"/>
          <p:nvPr/>
        </p:nvSpPr>
        <p:spPr>
          <a:xfrm>
            <a:off x="762000" y="5810250"/>
            <a:ext cx="10668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 i="1">
                <a:solidFill>
                  <a:srgbClr val="A79E92"/>
                </a:solidFill>
                <a:latin typeface="Inter"/>
                <a:ea typeface="Inter"/>
              </a:rPr>
              <a:t>Phase 07 is the one that looks like polish and is not: roughly forty of the closed tasks were the portal being told to stop promising features it had not wired — counts that matched their own rows, alerts that landed on what they counted, a Guide that described the running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32F6569-CDEE-46B4-A3CA-CEAE0C945C42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Shipped is not the same as proven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E3F7DE8-056B-48A3-8E59-CD306BDB826F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1641EA8-4CE8-4234-9BB5-3DB49560FC00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Left runs on every change without being asked. Right needs something only you can supply.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F486EA7-7AFD-405D-B305-51A4976BB64E}"/>
              </a:ext>
            </a:extLst>
          </p:cNvPr>
          <p:cNvSpPr/>
          <p:nvPr/>
        </p:nvSpPr>
        <p:spPr>
          <a:xfrm>
            <a:off x="762000" y="1866900"/>
            <a:ext cx="5219700" cy="409575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0466D7B-C69C-455A-9010-C27639A937FD}"/>
              </a:ext>
            </a:extLst>
          </p:cNvPr>
          <p:cNvSpPr/>
          <p:nvPr/>
        </p:nvSpPr>
        <p:spPr>
          <a:xfrm>
            <a:off x="6210300" y="1866900"/>
            <a:ext cx="5219700" cy="409575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795DC3A-6AC2-4BB2-B88C-6A495B66555B}"/>
              </a:ext>
            </a:extLst>
          </p:cNvPr>
          <p:cNvSpPr txBox="1"/>
          <p:nvPr/>
        </p:nvSpPr>
        <p:spPr>
          <a:xfrm>
            <a:off x="1028700" y="2133600"/>
            <a:ext cx="4686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B98F5E"/>
                </a:solidFill>
                <a:latin typeface="Montserrat"/>
                <a:ea typeface="Montserrat"/>
              </a:rPr>
              <a:t>Runs automatically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3069C50-0DB7-4EA2-920F-30F7E9A6E8C9}"/>
              </a:ext>
            </a:extLst>
          </p:cNvPr>
          <p:cNvSpPr txBox="1"/>
          <p:nvPr/>
        </p:nvSpPr>
        <p:spPr>
          <a:xfrm>
            <a:off x="1028700" y="2533650"/>
            <a:ext cx="46863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TypeScript over the whole project, no emit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ESLint on every touched file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check-staff-routes — 16 pages, 16 guarded, 16 on the rail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check-themes — 2 palettes x 2 tones, each painted by CSS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production build in an isolated copy, so your dev server is never touched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Live probes: server modules run from a plain Node script against the real database, then undo what they wrote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F951754-51EE-4C9F-825D-05448516C528}"/>
              </a:ext>
            </a:extLst>
          </p:cNvPr>
          <p:cNvSpPr txBox="1"/>
          <p:nvPr/>
        </p:nvSpPr>
        <p:spPr>
          <a:xfrm>
            <a:off x="6477000" y="2133600"/>
            <a:ext cx="4686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FA3B8"/>
                </a:solidFill>
                <a:latin typeface="Montserrat"/>
                <a:ea typeface="Montserrat"/>
              </a:rPr>
              <a:t>Needs you, or a credential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34890B3-5EEA-4935-9448-91D6E6E06C05}"/>
              </a:ext>
            </a:extLst>
          </p:cNvPr>
          <p:cNvSpPr txBox="1"/>
          <p:nvPr/>
        </p:nvSpPr>
        <p:spPr>
          <a:xfrm>
            <a:off x="6477000" y="2533650"/>
            <a:ext cx="46863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signed-in staff session — 21 browser proofs are queued behind one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One real email leaving the building with the offer PDF attached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real video pitch recorded and graded end to end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scheduler for the two cron routes — nothing drains the WhatsApp queue today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WhatsApp number Meta will actually deliver to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6A4D774-72F0-4D09-BD37-B4F3E3F58438}"/>
              </a:ext>
            </a:extLst>
          </p:cNvPr>
          <p:cNvSpPr txBox="1"/>
          <p:nvPr/>
        </p:nvSpPr>
        <p:spPr>
          <a:xfrm>
            <a:off x="762000" y="6172200"/>
            <a:ext cx="10668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A79E92"/>
                </a:solidFill>
                <a:latin typeface="Inter"/>
                <a:ea typeface="Inter"/>
              </a:rPr>
              <a:t>Nothing in this deck is claimed as verified unless it appears in the left column or was proven in a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0ED35FA-2A84-4C2B-8170-0368288707E5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Trust, tenant data and the record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3565E50-C688-4097-8152-6891AE781303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D592842-C2FB-4FB5-9104-135676EF7ACE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Four things this app gets right that a recruiter never sees and a leak would expose.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F19E7D6-E8BF-4C7D-A6DB-88DE8D7A0160}"/>
              </a:ext>
            </a:extLst>
          </p:cNvPr>
          <p:cNvSpPr/>
          <p:nvPr/>
        </p:nvSpPr>
        <p:spPr>
          <a:xfrm>
            <a:off x="762000" y="1809750"/>
            <a:ext cx="5219700" cy="20193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3AFFEE6-3639-49CF-A5F4-94C24B601C4B}"/>
              </a:ext>
            </a:extLst>
          </p:cNvPr>
          <p:cNvSpPr/>
          <p:nvPr/>
        </p:nvSpPr>
        <p:spPr>
          <a:xfrm>
            <a:off x="6210300" y="1809750"/>
            <a:ext cx="5219700" cy="20193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67AE9BA-0C80-4DB0-B938-69483D76B628}"/>
              </a:ext>
            </a:extLst>
          </p:cNvPr>
          <p:cNvSpPr/>
          <p:nvPr/>
        </p:nvSpPr>
        <p:spPr>
          <a:xfrm>
            <a:off x="762000" y="3981450"/>
            <a:ext cx="5219700" cy="20193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A4D21B0-A5A6-4D67-A59B-7FA5F6E745D2}"/>
              </a:ext>
            </a:extLst>
          </p:cNvPr>
          <p:cNvSpPr/>
          <p:nvPr/>
        </p:nvSpPr>
        <p:spPr>
          <a:xfrm>
            <a:off x="6210300" y="3981450"/>
            <a:ext cx="5219700" cy="20193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D1E6091-C9FB-470E-9C9C-A656BD154ABB}"/>
              </a:ext>
            </a:extLst>
          </p:cNvPr>
          <p:cNvSpPr txBox="1"/>
          <p:nvPr/>
        </p:nvSpPr>
        <p:spPr>
          <a:xfrm>
            <a:off x="1028700" y="2038350"/>
            <a:ext cx="4686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98F5E"/>
                </a:solidFill>
                <a:latin typeface="Montserrat"/>
                <a:ea typeface="Montserrat"/>
              </a:rPr>
              <a:t>94 row-level policies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F173CD5-B1CD-4CC7-ABC6-01D8F248B9D1}"/>
              </a:ext>
            </a:extLst>
          </p:cNvPr>
          <p:cNvSpPr txBox="1"/>
          <p:nvPr/>
        </p:nvSpPr>
        <p:spPr>
          <a:xfrm>
            <a:off x="1028700" y="2362200"/>
            <a:ext cx="46863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RLS is on every table that holds a person. The rules call helpers — is_staff(), has_permission(), current_user_profile_id(), user_tenant_id() — so a company cannot read another company's pipeline even if a query forgets its filter.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25BE595-C463-4FB6-A019-C573D04C7C74}"/>
              </a:ext>
            </a:extLst>
          </p:cNvPr>
          <p:cNvSpPr txBox="1"/>
          <p:nvPr/>
        </p:nvSpPr>
        <p:spPr>
          <a:xfrm>
            <a:off x="6477000" y="2038350"/>
            <a:ext cx="4686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98F5E"/>
                </a:solidFill>
                <a:latin typeface="Montserrat"/>
                <a:ea typeface="Montserrat"/>
              </a:rPr>
              <a:t>Keys at rest, three audit trails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F4D941A-0617-46C7-BBFC-88FB277BB570}"/>
              </a:ext>
            </a:extLst>
          </p:cNvPr>
          <p:cNvSpPr txBox="1"/>
          <p:nvPr/>
        </p:nvSpPr>
        <p:spPr>
          <a:xfrm>
            <a:off x="6477000" y="2362200"/>
            <a:ext cx="46863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Provider keys are stored AES-256-GCM and decrypted only at request time; revealing one is itself logged. activity_log, credential_audit_log and settings_audit_log record who changed what, including changes made by AI, by cron, or by a candidate.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3148889-D7FC-4507-9ED5-F025F28E7F5D}"/>
              </a:ext>
            </a:extLst>
          </p:cNvPr>
          <p:cNvSpPr txBox="1"/>
          <p:nvPr/>
        </p:nvSpPr>
        <p:spPr>
          <a:xfrm>
            <a:off x="1028700" y="4210050"/>
            <a:ext cx="4686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98F5E"/>
                </a:solidFill>
                <a:latin typeface="Montserrat"/>
                <a:ea typeface="Montserrat"/>
              </a:rPr>
              <a:t>Sessions that end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5242A55-E563-4D9F-A934-9755002A86A2}"/>
              </a:ext>
            </a:extLst>
          </p:cNvPr>
          <p:cNvSpPr txBox="1"/>
          <p:nvPr/>
        </p:nvSpPr>
        <p:spPr>
          <a:xfrm>
            <a:off x="1028700" y="4533900"/>
            <a:ext cx="46863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security.session_timeout_minutes is enforced at the proxy, not just shown in settings: an idle recruiter is signed out and sent back to the page they were on. Candidates are bounced out of the staff portal by role.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2E59F6E-6E50-4FEA-A895-491E2E1AA862}"/>
              </a:ext>
            </a:extLst>
          </p:cNvPr>
          <p:cNvSpPr txBox="1"/>
          <p:nvPr/>
        </p:nvSpPr>
        <p:spPr>
          <a:xfrm>
            <a:off x="6477000" y="4210050"/>
            <a:ext cx="4686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98F5E"/>
                </a:solidFill>
                <a:latin typeface="Montserrat"/>
                <a:ea typeface="Montserrat"/>
              </a:rPr>
              <a:t>A test link nobody can guess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A6F2BBA-77F6-4C67-9BD6-759946B14524}"/>
              </a:ext>
            </a:extLst>
          </p:cNvPr>
          <p:cNvSpPr txBox="1"/>
          <p:nvPr/>
        </p:nvSpPr>
        <p:spPr>
          <a:xfrm>
            <a:off x="6477000" y="4533900"/>
            <a:ext cx="46863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Each attempt carries a 128-bit token with a validity window, and can be revoked or extended. Autosave, tab switches and copy events are recorded as integrity findings a reviewer scores beside the answer.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B63AE6C-4E13-4DAC-87BE-C104567690CD}"/>
              </a:ext>
            </a:extLst>
          </p:cNvPr>
          <p:cNvSpPr txBox="1"/>
          <p:nvPr/>
        </p:nvSpPr>
        <p:spPr>
          <a:xfrm>
            <a:off x="762000" y="6172200"/>
            <a:ext cx="10668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7FA3B8"/>
                </a:solidFill>
                <a:latin typeface="Inter"/>
                <a:ea typeface="Inter"/>
              </a:rPr>
              <a:t>Open: the role-permissions editor lets you grant a row its policy will not honour (#334), and two staff roles are unreachable without an approved type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F277043-5204-4ABF-BCB8-93BDDC258870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The recruiter portal, page by page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E4F95C7-98E1-4432-86B8-63BB3EE6C81A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6D13ECF-5376-4225-9CB3-9195DE3374AD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Sixteen pages, and the guard is structural rather than remembered.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E67D4F4-7207-4512-8439-2E9278CB2C52}"/>
              </a:ext>
            </a:extLst>
          </p:cNvPr>
          <p:cNvSpPr txBox="1"/>
          <p:nvPr/>
        </p:nvSpPr>
        <p:spPr>
          <a:xfrm>
            <a:off x="762000" y="2000250"/>
            <a:ext cx="2857500" cy="857250"/>
          </a:xfrm>
        </p:spPr>
        <p:txBody>
          <a:bodyPr wrap="square" rtlCol="0" lIns="0" tIns="0" rIns="0" bIns="0" anchor="t"/>
          <a:lstStyle/>
          <a:p>
            <a:pPr algn="l"/>
            <a:r>
              <a:rPr sz="5400" b="1">
                <a:solidFill>
                  <a:srgbClr val="B98F5E"/>
                </a:solidFill>
                <a:latin typeface="Montserrat"/>
                <a:ea typeface="Montserrat"/>
              </a:rPr>
              <a:t>16</a:t>
            </a:r>
            <a:r>
              <a:rPr sz="3000" b="1">
                <a:solidFill>
                  <a:srgbClr val="6F6862"/>
                </a:solidFill>
                <a:latin typeface="Montserrat"/>
                <a:ea typeface="Montserrat"/>
              </a:rPr>
              <a:t>/16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8D212F8-7BA6-4BC3-A398-8A24FE771083}"/>
              </a:ext>
            </a:extLst>
          </p:cNvPr>
          <p:cNvSpPr txBox="1"/>
          <p:nvPr/>
        </p:nvSpPr>
        <p:spPr>
          <a:xfrm>
            <a:off x="762000" y="2971800"/>
            <a:ext cx="2857500" cy="305257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F2EDE4"/>
                </a:solidFill>
                <a:latin typeface="Inter"/>
                <a:ea typeface="Inter"/>
              </a:rPr>
              <a:t>guarded, on the rail, and typed</a:t>
            </a:r>
          </a:p>
          <a:p>
            <a:pPr algn="l">
              <a:lnSpc>
                <a:spcPct val="132000"/>
              </a:lnSpc>
              <a:spcAft>
                <a:spcPts val="1000"/>
              </a:spcAft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check-staff-routes fails the build if a page exists that is not guarded, or is guarded but missing from the navigation table.</a:t>
            </a:r>
          </a:p>
          <a:p>
            <a:pPr algn="l">
              <a:lnSpc>
                <a:spcPct val="132000"/>
              </a:lnSpc>
              <a:spcAft>
                <a:spcPts val="1000"/>
              </a:spcAft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Chat links, alert destinations and live paths are typed against the same StaffRoute list, so a link to a page that is gone is a compile error.</a:t>
            </a:r>
          </a:p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Each write behind a page guard also checks a permission — candidates.write, messages.send, assessments.grade, settings.manage.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63ABA60-1649-40C1-803D-96C1BEF26DDA}"/>
              </a:ext>
            </a:extLst>
          </p:cNvPr>
          <p:cNvSpPr txBox="1"/>
          <p:nvPr/>
        </p:nvSpPr>
        <p:spPr>
          <a:xfrm>
            <a:off x="4000500" y="1866900"/>
            <a:ext cx="7429500" cy="419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/dashboard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pipeline board, live alerts, drilldowns into the rows behind a number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/analytics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funnel, channels, score spread, interactive popups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/reports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row-level exports as CSV, Excel or PDF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/candidates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the pipeline, a Kanban, one profile per person, a dossier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/jobs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openings grid with rails, applicants per opening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/questions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one authoring surface over the bank and the gate questions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/assessments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suites, every issued link, the grading desk and its retries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/interviews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the agenda, reschedule, recorded outcomes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/onboarding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generated plans and their checklists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/sourcing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prospect import, AI profile reads, convert to an application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/whatsapp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the outbox across WhatsApp, email and portal notices, with retry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/files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resumes, audio and video, with signed download links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/time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the time ledger and its three export formats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/activity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every change, labelled human, AI, cron or candidate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/assistant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the chat, its sessions, and the tools behind it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F2EDE4"/>
                </a:solidFill>
                <a:latin typeface="Inter"/>
                <a:ea typeface="Inter"/>
              </a:rPr>
              <a:t>/settings</a:t>
            </a: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keys, model routing, templates, team, master data, change trails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04DADB0-0CC4-453E-B82E-033BC7A9CEB1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One applicant, start to finish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0112B94-7662-4373-9662-B63301022AE4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BC7CC6-0C83-4954-B028-97C4FB3CDA0A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The seven stages are the database's own enum, and every arrow between them is a real action a recruiter can take.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DC26747-7CAD-4490-BFE1-B00915572ABD}"/>
              </a:ext>
            </a:extLst>
          </p:cNvPr>
          <p:cNvSpPr/>
          <p:nvPr/>
        </p:nvSpPr>
        <p:spPr>
          <a:xfrm>
            <a:off x="762000" y="2057400"/>
            <a:ext cx="10668000" cy="19050"/>
          </a:xfrm>
          <a:prstGeom prst="rect">
            <a:avLst/>
          </a:prstGeom>
          <a:solidFill>
            <a:srgbClr val="3531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69541D-1823-4347-AE55-99F728CAA655}"/>
              </a:ext>
            </a:extLst>
          </p:cNvPr>
          <p:cNvSpPr txBox="1"/>
          <p:nvPr/>
        </p:nvSpPr>
        <p:spPr>
          <a:xfrm>
            <a:off x="762000" y="2286000"/>
            <a:ext cx="1428750" cy="3143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NEW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Four doors in: the careers board, WhatsApp, a LinkedIn import, or hand-recorded by a recruiter. Gate questions can stop it here.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5069C0B-18A1-4464-B1CF-47FDC3279756}"/>
              </a:ext>
            </a:extLst>
          </p:cNvPr>
          <p:cNvSpPr txBox="1"/>
          <p:nvPr/>
        </p:nvSpPr>
        <p:spPr>
          <a:xfrm>
            <a:off x="2286000" y="2286000"/>
            <a:ext cx="1428750" cy="3143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AI_SCREENING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Fit score, strengths and gaps, a soft-skills read, and the auto-advance or auto-reject threshold you set.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C719F49-2499-4A2E-8089-1C8BA5D5A39E}"/>
              </a:ext>
            </a:extLst>
          </p:cNvPr>
          <p:cNvSpPr txBox="1"/>
          <p:nvPr/>
        </p:nvSpPr>
        <p:spPr>
          <a:xfrm>
            <a:off x="3810000" y="2286000"/>
            <a:ext cx="1428750" cy="3143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ASSESSMENT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 tokenized link with a validity window. Excel, video, case and multiple choice. AI grades with a rationale; a human can override it.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F36A464-241D-473F-BAE5-27A793C71BEB}"/>
              </a:ext>
            </a:extLst>
          </p:cNvPr>
          <p:cNvSpPr txBox="1"/>
          <p:nvPr/>
        </p:nvSpPr>
        <p:spPr>
          <a:xfrm>
            <a:off x="5334000" y="2286000"/>
            <a:ext cx="1428750" cy="3143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INTERVIEW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Booked on the agenda, rescheduled, outcome recorded. Invites and changes go out on whichever channels are switched on.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E7E6074-3BC3-408B-B9F0-56DD5894C4B2}"/>
              </a:ext>
            </a:extLst>
          </p:cNvPr>
          <p:cNvSpPr txBox="1"/>
          <p:nvPr/>
        </p:nvSpPr>
        <p:spPr>
          <a:xfrm>
            <a:off x="6858000" y="2286000"/>
            <a:ext cx="1428750" cy="3143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OFFER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The email carries a generated A4 letter. If the letter cannot be written, the sentence about attachments is taken back out.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E0E3E5-F90E-4F4F-BDAC-A85ED95A5E0A}"/>
              </a:ext>
            </a:extLst>
          </p:cNvPr>
          <p:cNvSpPr txBox="1"/>
          <p:nvPr/>
        </p:nvSpPr>
        <p:spPr>
          <a:xfrm>
            <a:off x="8382000" y="2286000"/>
            <a:ext cx="1428750" cy="3143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HIRED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An onboarding plan with its checklist, written into the same record the pipeline reads.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94B114F-7067-48F2-9CB2-AE1C93312986}"/>
              </a:ext>
            </a:extLst>
          </p:cNvPr>
          <p:cNvSpPr txBox="1"/>
          <p:nvPr/>
        </p:nvSpPr>
        <p:spPr>
          <a:xfrm>
            <a:off x="9906000" y="2286000"/>
            <a:ext cx="1524000" cy="3143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REJECTED</a:t>
            </a: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 drafted reason, a polite letter, and a tracking page that says so without opening a ticket.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9AAC09E-F6A3-4A45-B62A-C163642CAD6B}"/>
              </a:ext>
            </a:extLst>
          </p:cNvPr>
          <p:cNvSpPr txBox="1"/>
          <p:nvPr/>
        </p:nvSpPr>
        <p:spPr>
          <a:xfrm>
            <a:off x="762000" y="5715000"/>
            <a:ext cx="106680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 i="1">
                <a:solidFill>
                  <a:srgbClr val="A79E92"/>
                </a:solidFill>
                <a:latin typeface="Inter"/>
                <a:ea typeface="Inter"/>
              </a:rPr>
              <a:t>And nothing in the path deletes a person: candidates are archived, an archive is refused while an interview is still held, and the stage figures on every screen are populations — who sits where now — never moves, which is why the app refuses to call them conversion or velocity.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1B70D4C-43A4-4E43-9515-06C552256D1D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The AI layer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8D590CE-BE51-4DA7-B243-2D469DDFFF56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713B394-D1CF-41E7-B418-01348A152308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Six providers, one gateway, and a line between what AI may write and what a person must approve.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98FD2E4-F773-4B32-8EB6-087EC1C587DD}"/>
              </a:ext>
            </a:extLst>
          </p:cNvPr>
          <p:cNvSpPr/>
          <p:nvPr/>
        </p:nvSpPr>
        <p:spPr>
          <a:xfrm>
            <a:off x="762000" y="1809750"/>
            <a:ext cx="3295650" cy="41910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E98A1FF-B03D-4EA2-B36A-EB5AC439631B}"/>
              </a:ext>
            </a:extLst>
          </p:cNvPr>
          <p:cNvSpPr/>
          <p:nvPr/>
        </p:nvSpPr>
        <p:spPr>
          <a:xfrm>
            <a:off x="4438650" y="1809750"/>
            <a:ext cx="3295650" cy="41910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C6CBA7B-B7AC-4EB1-B564-7CD46B13A63F}"/>
              </a:ext>
            </a:extLst>
          </p:cNvPr>
          <p:cNvSpPr/>
          <p:nvPr/>
        </p:nvSpPr>
        <p:spPr>
          <a:xfrm>
            <a:off x="8115300" y="1809750"/>
            <a:ext cx="3314700" cy="41910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6C1FDF3-4128-4EAB-90BA-BF6C54435506}"/>
              </a:ext>
            </a:extLst>
          </p:cNvPr>
          <p:cNvSpPr txBox="1"/>
          <p:nvPr/>
        </p:nvSpPr>
        <p:spPr>
          <a:xfrm>
            <a:off x="990600" y="2057400"/>
            <a:ext cx="28384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98F5E"/>
                </a:solidFill>
                <a:latin typeface="Inter"/>
                <a:ea typeface="Inter"/>
              </a:rPr>
              <a:t>THE GATEWAY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48A2CF9-06B6-4834-82CD-E5568AFEB05B}"/>
              </a:ext>
            </a:extLst>
          </p:cNvPr>
          <p:cNvSpPr txBox="1"/>
          <p:nvPr/>
        </p:nvSpPr>
        <p:spPr>
          <a:xfrm>
            <a:off x="990600" y="2324100"/>
            <a:ext cx="28384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2EDE4"/>
                </a:solidFill>
                <a:latin typeface="Montserrat"/>
                <a:ea typeface="Montserrat"/>
              </a:rPr>
              <a:t>Six providers, one call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39396BF-F9FE-4812-8401-DDB1DAF93DF4}"/>
              </a:ext>
            </a:extLst>
          </p:cNvPr>
          <p:cNvSpPr txBox="1"/>
          <p:nvPr/>
        </p:nvSpPr>
        <p:spPr>
          <a:xfrm>
            <a:off x="990600" y="2743200"/>
            <a:ext cx="2838450" cy="3048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OpenRouter, Google AI Studio,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OpenCode, Qoder, Cloudflare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Workers AI, NVIDIA NIM.</a:t>
            </a:r>
            <a:br/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The gateway dispatches on the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routing-id prefix, so a model chain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names its provider. It walks the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chain on a 429, a 503 or a timeout,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and rotates to the next stored key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before it gives up.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C33929E-ABB6-4ED0-927D-31BAEB759F8D}"/>
              </a:ext>
            </a:extLst>
          </p:cNvPr>
          <p:cNvSpPr txBox="1"/>
          <p:nvPr/>
        </p:nvSpPr>
        <p:spPr>
          <a:xfrm>
            <a:off x="4667250" y="2057400"/>
            <a:ext cx="28384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98F5E"/>
                </a:solidFill>
                <a:latin typeface="Inter"/>
                <a:ea typeface="Inter"/>
              </a:rPr>
              <a:t>ROUTING BY JOB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19C23E6-A5C6-47CB-BE37-D4531BC0D168}"/>
              </a:ext>
            </a:extLst>
          </p:cNvPr>
          <p:cNvSpPr txBox="1"/>
          <p:nvPr/>
        </p:nvSpPr>
        <p:spPr>
          <a:xfrm>
            <a:off x="4667250" y="2324100"/>
            <a:ext cx="28384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2EDE4"/>
                </a:solidFill>
                <a:latin typeface="Montserrat"/>
                <a:ea typeface="Montserrat"/>
              </a:rPr>
              <a:t>A chain per capability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05BB7D9-0515-4FF9-B5B2-926C945EBD51}"/>
              </a:ext>
            </a:extLst>
          </p:cNvPr>
          <p:cNvSpPr txBox="1"/>
          <p:nvPr/>
        </p:nvSpPr>
        <p:spPr>
          <a:xfrm>
            <a:off x="4667250" y="2743200"/>
            <a:ext cx="2838450" cy="31546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Screening, grading, question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authoring, the assistant, the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careers chatbot, LinkedIn profile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reads, and now interface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translation each carry their own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ordered model list.</a:t>
            </a:r>
            <a:br/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cheap-fast model leads where a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draft is enough. A strong one leads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where a score is the record. Keys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are stored encrypted and decrypted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only at request time.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DD3BC5F-3A88-4448-9765-5C91EA837982}"/>
              </a:ext>
            </a:extLst>
          </p:cNvPr>
          <p:cNvSpPr txBox="1"/>
          <p:nvPr/>
        </p:nvSpPr>
        <p:spPr>
          <a:xfrm>
            <a:off x="8343900" y="205740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7FA3B8"/>
                </a:solidFill>
                <a:latin typeface="Inter"/>
                <a:ea typeface="Inter"/>
              </a:rPr>
              <a:t>THE LIMIT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170205D-3C30-4D62-9670-716E14831A60}"/>
              </a:ext>
            </a:extLst>
          </p:cNvPr>
          <p:cNvSpPr txBox="1"/>
          <p:nvPr/>
        </p:nvSpPr>
        <p:spPr>
          <a:xfrm>
            <a:off x="8343900" y="2324100"/>
            <a:ext cx="285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2EDE4"/>
                </a:solidFill>
                <a:latin typeface="Montserrat"/>
                <a:ea typeface="Montserrat"/>
              </a:rPr>
              <a:t>It never signs alone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DC2BED0-EFF3-4AA9-9EA5-AF01AF399731}"/>
              </a:ext>
            </a:extLst>
          </p:cNvPr>
          <p:cNvSpPr txBox="1"/>
          <p:nvPr/>
        </p:nvSpPr>
        <p:spPr>
          <a:xfrm>
            <a:off x="8343900" y="2743200"/>
            <a:ext cx="2857500" cy="3048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AI writes a fit score, strengths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and gaps, a grade with its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rationale, draft questions, a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prospect profile.</a:t>
            </a:r>
            <a:br/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Every one is revisable by a human,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and every write is attributed in the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activity trail. The assistant must be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told yes before it changes a record.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Translation drafts are nothing until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person saves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F3385B2-8BC1-448A-9BFE-D443F4AAF68A}"/>
              </a:ext>
            </a:extLst>
          </p:cNvPr>
          <p:cNvSpPr txBox="1"/>
          <p:nvPr/>
        </p:nvSpPr>
        <p:spPr>
          <a:xfrm>
            <a:off x="762000" y="4953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Messaging that actually leaves the building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2A1E84D-BD24-4018-BBC4-2975DC2E0CC9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DA44FD7-4D9B-4CA7-BD6D-C0C390DA3B48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The pipeline writes notices for every stage change. Whether they arrive is a different question.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799493D-B0CF-4EDF-AF49-88F53B4E71B0}"/>
              </a:ext>
            </a:extLst>
          </p:cNvPr>
          <p:cNvSpPr txBox="1"/>
          <p:nvPr/>
        </p:nvSpPr>
        <p:spPr>
          <a:xfrm>
            <a:off x="762000" y="1866900"/>
            <a:ext cx="3314700" cy="66675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B98F5E"/>
                </a:solidFill>
                <a:latin typeface="Montserrat"/>
                <a:ea typeface="Montserrat"/>
              </a:rPr>
              <a:t>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D312F98-D018-4AD1-B48B-8B80660D720B}"/>
              </a:ext>
            </a:extLst>
          </p:cNvPr>
          <p:cNvSpPr txBox="1"/>
          <p:nvPr/>
        </p:nvSpPr>
        <p:spPr>
          <a:xfrm>
            <a:off x="762000" y="2514600"/>
            <a:ext cx="3048000" cy="7315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Channels wired: WhatsApp, SMTP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email, and the in-app notice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inbox.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B65540-6C63-4F8D-B7CA-1C8787ED915A}"/>
              </a:ext>
            </a:extLst>
          </p:cNvPr>
          <p:cNvSpPr txBox="1"/>
          <p:nvPr/>
        </p:nvSpPr>
        <p:spPr>
          <a:xfrm>
            <a:off x="4438650" y="1866900"/>
            <a:ext cx="3314700" cy="66675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B98F5E"/>
                </a:solidFill>
                <a:latin typeface="Montserrat"/>
                <a:ea typeface="Montserrat"/>
              </a:rPr>
              <a:t>17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46728F-616A-430D-A4FB-6C9BF0253027}"/>
              </a:ext>
            </a:extLst>
          </p:cNvPr>
          <p:cNvSpPr txBox="1"/>
          <p:nvPr/>
        </p:nvSpPr>
        <p:spPr>
          <a:xfrm>
            <a:off x="4438650" y="2514600"/>
            <a:ext cx="3048000" cy="7315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Seeded templates in the schema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of record: 13 WhatsApp, 4 email,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each editable per company.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05D16F6-0F0E-49BB-9923-014246DEDB21}"/>
              </a:ext>
            </a:extLst>
          </p:cNvPr>
          <p:cNvSpPr txBox="1"/>
          <p:nvPr/>
        </p:nvSpPr>
        <p:spPr>
          <a:xfrm>
            <a:off x="8115300" y="1866900"/>
            <a:ext cx="3314700" cy="66675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B98F5E"/>
                </a:solidFill>
                <a:latin typeface="Montserrat"/>
                <a:ea typeface="Montserrat"/>
              </a:rPr>
              <a:t>12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0F8CE49-EBE2-4672-9905-DEEF436D46DE}"/>
              </a:ext>
            </a:extLst>
          </p:cNvPr>
          <p:cNvSpPr txBox="1"/>
          <p:nvPr/>
        </p:nvSpPr>
        <p:spPr>
          <a:xfrm>
            <a:off x="8115300" y="2514600"/>
            <a:ext cx="3048000" cy="9753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Modules that write a row to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communication_logs, so an outbox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shows what was asked and what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answered.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7B218C6-E803-4F1F-B69A-FFC90F620038}"/>
              </a:ext>
            </a:extLst>
          </p:cNvPr>
          <p:cNvSpPr/>
          <p:nvPr/>
        </p:nvSpPr>
        <p:spPr>
          <a:xfrm>
            <a:off x="762000" y="3429000"/>
            <a:ext cx="10668000" cy="9525"/>
          </a:xfrm>
          <a:prstGeom prst="rect">
            <a:avLst/>
          </a:prstGeom>
          <a:solidFill>
            <a:srgbClr val="3531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589365-66E6-4FF3-AEFA-F163B202FAD6}"/>
              </a:ext>
            </a:extLst>
          </p:cNvPr>
          <p:cNvSpPr txBox="1"/>
          <p:nvPr/>
        </p:nvSpPr>
        <p:spPr>
          <a:xfrm>
            <a:off x="762000" y="3810000"/>
            <a:ext cx="3314700" cy="66675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B98F5E"/>
                </a:solidFill>
                <a:latin typeface="Montserrat"/>
                <a:ea typeface="Montserrat"/>
              </a:rPr>
              <a:t>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496CB50-4E9B-4EEE-98AF-EFCF6C06CE7C}"/>
              </a:ext>
            </a:extLst>
          </p:cNvPr>
          <p:cNvSpPr txBox="1"/>
          <p:nvPr/>
        </p:nvSpPr>
        <p:spPr>
          <a:xfrm>
            <a:off x="762000" y="4457700"/>
            <a:ext cx="3048000" cy="9753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Real SMTP credential in use.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An email row now records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delivered=true, so a false row is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 bug, not a placeholder.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54E4B46-D8AA-45B3-ADE8-CC0A9783517A}"/>
              </a:ext>
            </a:extLst>
          </p:cNvPr>
          <p:cNvSpPr txBox="1"/>
          <p:nvPr/>
        </p:nvSpPr>
        <p:spPr>
          <a:xfrm>
            <a:off x="4438650" y="3810000"/>
            <a:ext cx="3314700" cy="66675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7FA3B8"/>
                </a:solidFill>
                <a:latin typeface="Montserrat"/>
                <a:ea typeface="Montserrat"/>
              </a:rPr>
              <a:t>0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BCFA20-8D17-4FB8-87CF-7D6FC5689A51}"/>
              </a:ext>
            </a:extLst>
          </p:cNvPr>
          <p:cNvSpPr txBox="1"/>
          <p:nvPr/>
        </p:nvSpPr>
        <p:spPr>
          <a:xfrm>
            <a:off x="4438650" y="4457700"/>
            <a:ext cx="3048000" cy="9753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Schedulers. /api/cron/whatsapp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and /api/cron/grading exist and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are guarded, and nothing calls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them on a timer.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09C26AF-90B9-466A-A095-383D5B0570FD}"/>
              </a:ext>
            </a:extLst>
          </p:cNvPr>
          <p:cNvSpPr txBox="1"/>
          <p:nvPr/>
        </p:nvSpPr>
        <p:spPr>
          <a:xfrm>
            <a:off x="8115300" y="3810000"/>
            <a:ext cx="3314700" cy="66675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7FA3B8"/>
                </a:solidFill>
                <a:latin typeface="Montserrat"/>
                <a:ea typeface="Montserrat"/>
              </a:rPr>
              <a:t>0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0F2F42-5790-4431-A4BF-BB593E890006}"/>
              </a:ext>
            </a:extLst>
          </p:cNvPr>
          <p:cNvSpPr txBox="1"/>
          <p:nvPr/>
        </p:nvSpPr>
        <p:spPr>
          <a:xfrm>
            <a:off x="8115300" y="4457700"/>
            <a:ext cx="3048000" cy="9753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Numbers Meta will deliver to.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The test account is outside the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allow-list, so notices queue and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the send is rejected.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07C06AF-8E70-4292-A9CB-8236ACE0400C}"/>
              </a:ext>
            </a:extLst>
          </p:cNvPr>
          <p:cNvSpPr txBox="1"/>
          <p:nvPr/>
        </p:nvSpPr>
        <p:spPr>
          <a:xfrm>
            <a:off x="762000" y="5810250"/>
            <a:ext cx="10668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 i="1">
                <a:solidFill>
                  <a:srgbClr val="A79E92"/>
                </a:solidFill>
                <a:latin typeface="Inter"/>
                <a:ea typeface="Inter"/>
              </a:rPr>
              <a:t>The queue is real, auditable and visible in the outbox. What it lacks is a timer on one side and a number that will answer on the other — both outside the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0D8EB82-CA15-4387-AC05-A1A17A707C35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The 47 open items, grouped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19FAEA0-7646-4ADF-AAFA-F376E1930E85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F77A5C4-970C-4169-8115-7A8A20D2A84B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Counted in the task tracker today: 320 closed, 47 open. None of the 47 is a bug waiting to be found.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BFCDA43-F80F-4C72-9FDA-69A584B3CA86}"/>
              </a:ext>
            </a:extLst>
          </p:cNvPr>
          <p:cNvSpPr/>
          <p:nvPr/>
        </p:nvSpPr>
        <p:spPr>
          <a:xfrm>
            <a:off x="762000" y="1809750"/>
            <a:ext cx="5219700" cy="201930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8F3324C-E80F-4125-815B-961B7F930087}"/>
              </a:ext>
            </a:extLst>
          </p:cNvPr>
          <p:cNvSpPr/>
          <p:nvPr/>
        </p:nvSpPr>
        <p:spPr>
          <a:xfrm>
            <a:off x="6210300" y="1809750"/>
            <a:ext cx="5219700" cy="20193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95FA5EC-F7B1-40E5-BD38-CBAA19609FF3}"/>
              </a:ext>
            </a:extLst>
          </p:cNvPr>
          <p:cNvSpPr/>
          <p:nvPr/>
        </p:nvSpPr>
        <p:spPr>
          <a:xfrm>
            <a:off x="762000" y="3981450"/>
            <a:ext cx="5219700" cy="20193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5584B2F-AD8B-49AA-9A58-75859F0CB83C}"/>
              </a:ext>
            </a:extLst>
          </p:cNvPr>
          <p:cNvSpPr/>
          <p:nvPr/>
        </p:nvSpPr>
        <p:spPr>
          <a:xfrm>
            <a:off x="6210300" y="3981450"/>
            <a:ext cx="5219700" cy="20193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9575824-5C05-40AE-AA97-635572D3057A}"/>
              </a:ext>
            </a:extLst>
          </p:cNvPr>
          <p:cNvSpPr txBox="1"/>
          <p:nvPr/>
        </p:nvSpPr>
        <p:spPr>
          <a:xfrm>
            <a:off x="1028700" y="2038350"/>
            <a:ext cx="46863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B98F5E"/>
                </a:solidFill>
                <a:latin typeface="Montserrat"/>
                <a:ea typeface="Montserrat"/>
              </a:rPr>
              <a:t>24</a:t>
            </a:r>
            <a:r>
              <a:rPr sz="1400" b="1">
                <a:solidFill>
                  <a:srgbClr val="F2EDE4"/>
                </a:solidFill>
                <a:latin typeface="Montserrat"/>
                <a:ea typeface="Montserrat"/>
              </a:rPr>
              <a:t>   Proofs, not bugs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9F5F714-69C5-420F-8920-FE9B073305AB}"/>
              </a:ext>
            </a:extLst>
          </p:cNvPr>
          <p:cNvSpPr txBox="1"/>
          <p:nvPr/>
        </p:nvSpPr>
        <p:spPr>
          <a:xfrm>
            <a:off x="1028700" y="2419350"/>
            <a:ext cx="46863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Twenty-one need a browser with you signed in as staff.</a:t>
            </a:r>
          </a:p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One needs a real SMTP delivery, one a pitch recorded</a:t>
            </a:r>
          </a:p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and graded end to end, one a scheduler to drain the queue.</a:t>
            </a:r>
          </a:p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Nothing is broken: the evidence is what is missing.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22B4E3C-C02C-4242-8D5F-916986A735EE}"/>
              </a:ext>
            </a:extLst>
          </p:cNvPr>
          <p:cNvSpPr txBox="1"/>
          <p:nvPr/>
        </p:nvSpPr>
        <p:spPr>
          <a:xfrm>
            <a:off x="6477000" y="2038350"/>
            <a:ext cx="46863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7FA3B8"/>
                </a:solidFill>
                <a:latin typeface="Montserrat"/>
                <a:ea typeface="Montserrat"/>
              </a:rPr>
              <a:t>11</a:t>
            </a:r>
            <a:r>
              <a:rPr sz="1400" b="1">
                <a:solidFill>
                  <a:srgbClr val="F2EDE4"/>
                </a:solidFill>
                <a:latin typeface="Montserrat"/>
                <a:ea typeface="Montserrat"/>
              </a:rPr>
              <a:t>   Features never built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F50684-766F-4CD2-9CD5-DF77E22D89FC}"/>
              </a:ext>
            </a:extLst>
          </p:cNvPr>
          <p:cNvSpPr txBox="1"/>
          <p:nvPr/>
        </p:nvSpPr>
        <p:spPr>
          <a:xfrm>
            <a:off x="6477000" y="2419350"/>
            <a:ext cx="4686300" cy="120700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Interview scorecards and rounds · position definitions ·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hiring demand per opening · seniority and Remote/Hybrid ·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situational-judgment questions · score benchmarks against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everyone who sat the test · anonymous review · a second test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off the first result · a multi-page form with a photo.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609F2EC-0931-463A-8377-03E2E3BC8078}"/>
              </a:ext>
            </a:extLst>
          </p:cNvPr>
          <p:cNvSpPr txBox="1"/>
          <p:nvPr/>
        </p:nvSpPr>
        <p:spPr>
          <a:xfrm>
            <a:off x="1028700" y="4210050"/>
            <a:ext cx="46863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7FA3B8"/>
                </a:solidFill>
                <a:latin typeface="Montserrat"/>
                <a:ea typeface="Montserrat"/>
              </a:rPr>
              <a:t>8</a:t>
            </a:r>
            <a:r>
              <a:rPr sz="1400" b="1">
                <a:solidFill>
                  <a:srgbClr val="F2EDE4"/>
                </a:solidFill>
                <a:latin typeface="Montserrat"/>
                <a:ea typeface="Montserrat"/>
              </a:rPr>
              <a:t>   Engineering debt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D89E605-C955-4357-A358-33D21420CF29}"/>
              </a:ext>
            </a:extLst>
          </p:cNvPr>
          <p:cNvSpPr txBox="1"/>
          <p:nvPr/>
        </p:nvSpPr>
        <p:spPr>
          <a:xfrm>
            <a:off x="1028700" y="4591050"/>
            <a:ext cx="4686300" cy="120700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Per-request auth reads still uncached · page reads that are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not paginated or aggregated · the live poll's full-page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refresh · a repository layer beside the modules · tools.ts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split off @/app · six oversized client files · dead components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and the two dependencies no page imports.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1BF5087-3B99-46C5-944E-9B67CA6BE7EA}"/>
              </a:ext>
            </a:extLst>
          </p:cNvPr>
          <p:cNvSpPr txBox="1"/>
          <p:nvPr/>
        </p:nvSpPr>
        <p:spPr>
          <a:xfrm>
            <a:off x="6477000" y="4210050"/>
            <a:ext cx="46863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2EDE4"/>
                </a:solidFill>
                <a:latin typeface="Montserrat"/>
                <a:ea typeface="Montserrat"/>
              </a:rPr>
              <a:t>4   Neither code nor proof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BABA5EF-3174-44DC-A1BE-88DBB15D88FC}"/>
              </a:ext>
            </a:extLst>
          </p:cNvPr>
          <p:cNvSpPr txBox="1"/>
          <p:nvPr/>
        </p:nvSpPr>
        <p:spPr>
          <a:xfrm>
            <a:off x="6477000" y="4591050"/>
            <a:ext cx="46863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Two lines of copy that overstate the code: the analytics</a:t>
            </a:r>
          </a:p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export permission, and a Settings → Languages console</a:t>
            </a:r>
          </a:p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with no route behind it. Then the migration design, and</a:t>
            </a:r>
          </a:p>
          <a:p>
            <a:pPr algn="l">
              <a:lnSpc>
                <a:spcPct val="132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this report.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ADDDD5C-33E7-4CD4-83D6-119523F938A6}"/>
              </a:ext>
            </a:extLst>
          </p:cNvPr>
          <p:cNvSpPr txBox="1"/>
          <p:nvPr/>
        </p:nvSpPr>
        <p:spPr>
          <a:xfrm>
            <a:off x="762000" y="621030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A79E92"/>
                </a:solidFill>
                <a:latin typeface="Inter"/>
                <a:ea typeface="Inter"/>
              </a:rPr>
              <a:t>Each one is numbered in the tracker, so none of them can be quietly lost between sessions.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4F5704E-A1B2-4C90-B7CF-A400DD7758CA}"/>
              </a:ext>
            </a:extLst>
          </p:cNvPr>
          <p:cNvSpPr txBox="1"/>
          <p:nvPr/>
        </p:nvSpPr>
        <p:spPr>
          <a:xfrm>
            <a:off x="762000" y="4953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21 that need a signed-in session, not code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8F501D3-7DC9-487A-A447-81DF20D63753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B6E0923-C93D-4E03-B60B-C27AB928FEA6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The biggest block of open work is evidence. Here is exactly what one hour on a shared screen would settle.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D40C96F-F646-49F0-AF4E-7B8D36624851}"/>
              </a:ext>
            </a:extLst>
          </p:cNvPr>
          <p:cNvSpPr/>
          <p:nvPr/>
        </p:nvSpPr>
        <p:spPr>
          <a:xfrm>
            <a:off x="762000" y="1866900"/>
            <a:ext cx="5219700" cy="409575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85E8320-DF2B-4F7A-A431-5E1239D6429A}"/>
              </a:ext>
            </a:extLst>
          </p:cNvPr>
          <p:cNvSpPr/>
          <p:nvPr/>
        </p:nvSpPr>
        <p:spPr>
          <a:xfrm>
            <a:off x="6210300" y="1866900"/>
            <a:ext cx="5219700" cy="409575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5396E9-E722-463D-AE90-E69DAFDAB2EA}"/>
              </a:ext>
            </a:extLst>
          </p:cNvPr>
          <p:cNvSpPr txBox="1"/>
          <p:nvPr/>
        </p:nvSpPr>
        <p:spPr>
          <a:xfrm>
            <a:off x="1028700" y="2133600"/>
            <a:ext cx="4686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B98F5E"/>
                </a:solidFill>
                <a:latin typeface="Inter"/>
                <a:ea typeface="Inter"/>
              </a:rPr>
              <a:t>What one login would settle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AE4443-1E90-4477-B888-93EF02239DA9}"/>
              </a:ext>
            </a:extLst>
          </p:cNvPr>
          <p:cNvSpPr txBox="1"/>
          <p:nvPr/>
        </p:nvSpPr>
        <p:spPr>
          <a:xfrm>
            <a:off x="1028700" y="2514600"/>
            <a:ext cx="4686300" cy="24688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Chrome — app bar panels, the Live chip — 2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Numbers — analytics popups, rails, a chart — 4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People — profile tabs, hand-record, stage moves — 3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Grading — hand-score, the desk in report and chat — 2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Interviews — reschedule, outcome, the hold refusal — 2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Assistant — approval card, keys, rails, switch, dock — 5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Links — URL-borne search and a named folder — 1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Filing — a closed opening refused at four doors — 1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Templates — reset to default, and delete — 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E57E17E-2B39-4675-9CB4-CD130213ABFC}"/>
              </a:ext>
            </a:extLst>
          </p:cNvPr>
          <p:cNvSpPr txBox="1"/>
          <p:nvPr/>
        </p:nvSpPr>
        <p:spPr>
          <a:xfrm>
            <a:off x="1028700" y="5257800"/>
            <a:ext cx="4686300" cy="76581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4000"/>
              </a:lnSpc>
            </a:pPr>
            <a:r>
              <a:rPr sz="1250" b="1">
                <a:solidFill>
                  <a:srgbClr val="B98F5E"/>
                </a:solidFill>
                <a:latin typeface="Inter"/>
                <a:ea typeface="Inter"/>
              </a:rPr>
              <a:t>None of them is a defect. </a:t>
            </a: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Each is written, typechecks, lints and builds — it has</a:t>
            </a:r>
            <a:br/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just never been seen to work by a person.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74BDCD-AF89-47B6-9B57-08F7CA666C75}"/>
              </a:ext>
            </a:extLst>
          </p:cNvPr>
          <p:cNvSpPr txBox="1"/>
          <p:nvPr/>
        </p:nvSpPr>
        <p:spPr>
          <a:xfrm>
            <a:off x="6477000" y="2133600"/>
            <a:ext cx="4686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FA3B8"/>
                </a:solidFill>
                <a:latin typeface="Inter"/>
                <a:ea typeface="Inter"/>
              </a:rPr>
              <a:t>Why they are still open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6F39449-A0F1-4630-9590-26F9D918F6D1}"/>
              </a:ext>
            </a:extLst>
          </p:cNvPr>
          <p:cNvSpPr txBox="1"/>
          <p:nvPr/>
        </p:nvSpPr>
        <p:spPr>
          <a:xfrm>
            <a:off x="6477000" y="2457450"/>
            <a:ext cx="4686300" cy="2781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I cannot be you.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Every item needs a staff session, and the seeded demo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logins no longer work on the live project.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There is no staging database. A probe writes real rows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and then has to undo them, so I ask before running one.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Three need something outside the code: one real email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that leaves, a pitch graded end to end, a timer that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C1B6"/>
                </a:solidFill>
                <a:latin typeface="Inter"/>
                <a:ea typeface="Inter"/>
              </a:rPr>
              <a:t>drains the queue.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B8D13FE-D95E-435F-9874-FAB9DAC25563}"/>
              </a:ext>
            </a:extLst>
          </p:cNvPr>
          <p:cNvSpPr txBox="1"/>
          <p:nvPr/>
        </p:nvSpPr>
        <p:spPr>
          <a:xfrm>
            <a:off x="6477000" y="5334000"/>
            <a:ext cx="46863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4000"/>
              </a:lnSpc>
            </a:pPr>
            <a:r>
              <a:rPr sz="1200" b="1">
                <a:solidFill>
                  <a:srgbClr val="7FA3B8"/>
                </a:solidFill>
                <a:latin typeface="Inter"/>
                <a:ea typeface="Inter"/>
              </a:rPr>
              <a:t>Fastest way through: </a:t>
            </a: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you sign in once, I walk the list above in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order. Twenty-one items is an hour, not a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46EAF04-4855-4749-A0B1-175890A9274F}"/>
              </a:ext>
            </a:extLst>
          </p:cNvPr>
          <p:cNvSpPr txBox="1"/>
          <p:nvPr/>
        </p:nvSpPr>
        <p:spPr>
          <a:xfrm>
            <a:off x="762000" y="4953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11 features the product does not have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763E70E-417D-4FCF-BF9A-0C1B7E764A74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EA4A559-BD2F-4381-9B12-13BAC8167319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Eleven items are wanted but never built. None of them is a fix; each is a door into a bigger room.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13FA376-2376-470F-981A-6824C22DD5C9}"/>
              </a:ext>
            </a:extLst>
          </p:cNvPr>
          <p:cNvSpPr/>
          <p:nvPr/>
        </p:nvSpPr>
        <p:spPr>
          <a:xfrm>
            <a:off x="762000" y="1809750"/>
            <a:ext cx="3295650" cy="4191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BF84B3D-3B20-415B-8BEB-3DA0232C3F5C}"/>
              </a:ext>
            </a:extLst>
          </p:cNvPr>
          <p:cNvSpPr/>
          <p:nvPr/>
        </p:nvSpPr>
        <p:spPr>
          <a:xfrm>
            <a:off x="4438650" y="1809750"/>
            <a:ext cx="3295650" cy="4191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3E5421E-C0B3-4698-8665-7DCA29F4F737}"/>
              </a:ext>
            </a:extLst>
          </p:cNvPr>
          <p:cNvSpPr/>
          <p:nvPr/>
        </p:nvSpPr>
        <p:spPr>
          <a:xfrm>
            <a:off x="8115300" y="1809750"/>
            <a:ext cx="3314700" cy="4191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0BFC125-1134-46CE-8958-FEB7BA250E30}"/>
              </a:ext>
            </a:extLst>
          </p:cNvPr>
          <p:cNvSpPr txBox="1"/>
          <p:nvPr/>
        </p:nvSpPr>
        <p:spPr>
          <a:xfrm>
            <a:off x="990600" y="2057400"/>
            <a:ext cx="28384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7FA3B8"/>
                </a:solidFill>
                <a:latin typeface="Inter"/>
                <a:ea typeface="Inter"/>
              </a:rPr>
              <a:t>THE INTERVIEW ROOM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EB0B793-D818-488A-AB89-055516B67CA1}"/>
              </a:ext>
            </a:extLst>
          </p:cNvPr>
          <p:cNvSpPr txBox="1"/>
          <p:nvPr/>
        </p:nvSpPr>
        <p:spPr>
          <a:xfrm>
            <a:off x="990600" y="2305050"/>
            <a:ext cx="28384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2EDE4"/>
                </a:solidFill>
                <a:latin typeface="Montserrat"/>
                <a:ea typeface="Montserrat"/>
              </a:rPr>
              <a:t>Two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9D8D107-C8D2-40E2-8D04-2A88B5092B7D}"/>
              </a:ext>
            </a:extLst>
          </p:cNvPr>
          <p:cNvSpPr txBox="1"/>
          <p:nvPr/>
        </p:nvSpPr>
        <p:spPr>
          <a:xfrm>
            <a:off x="990600" y="2743200"/>
            <a:ext cx="2838450" cy="298460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6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An interviewer records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one outcome string. What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each panel member thought,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by competency, by round, is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nowhere in the record — the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artefact a hiring manager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asks for first.</a:t>
            </a:r>
            <a:br/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A vacancy is typed out fresh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every time; nothing inherits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its wording from a position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definition.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917804A-2B44-4315-A8C1-E55CCC7A8A65}"/>
              </a:ext>
            </a:extLst>
          </p:cNvPr>
          <p:cNvSpPr txBox="1"/>
          <p:nvPr/>
        </p:nvSpPr>
        <p:spPr>
          <a:xfrm>
            <a:off x="4667250" y="2057400"/>
            <a:ext cx="28384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7FA3B8"/>
                </a:solidFill>
                <a:latin typeface="Inter"/>
                <a:ea typeface="Inter"/>
              </a:rPr>
              <a:t>OPENINGS AND THE BOARD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3D2F70D-D443-4C6C-B186-EBEB878B3208}"/>
              </a:ext>
            </a:extLst>
          </p:cNvPr>
          <p:cNvSpPr txBox="1"/>
          <p:nvPr/>
        </p:nvSpPr>
        <p:spPr>
          <a:xfrm>
            <a:off x="4667250" y="2305050"/>
            <a:ext cx="28384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2EDE4"/>
                </a:solidFill>
                <a:latin typeface="Montserrat"/>
                <a:ea typeface="Montserrat"/>
              </a:rPr>
              <a:t>Three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71CA7B-EB9F-4AA1-94B1-0D67204B8625}"/>
              </a:ext>
            </a:extLst>
          </p:cNvPr>
          <p:cNvSpPr txBox="1"/>
          <p:nvPr/>
        </p:nvSpPr>
        <p:spPr>
          <a:xfrm>
            <a:off x="4667250" y="2743200"/>
            <a:ext cx="283845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Nothing says how many are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wanted, how many sit in the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pipeline, how many hired.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An opening has a title and a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place, not a seniority or a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Remote / Hybrid pattern, so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the board cannot filter on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either.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The form goes screen by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screen now; it still cannot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take a candidate's photo.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093F51C-4CBA-45C0-958E-BF83CBC743DE}"/>
              </a:ext>
            </a:extLst>
          </p:cNvPr>
          <p:cNvSpPr txBox="1"/>
          <p:nvPr/>
        </p:nvSpPr>
        <p:spPr>
          <a:xfrm>
            <a:off x="8343900" y="205740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7FA3B8"/>
                </a:solidFill>
                <a:latin typeface="Inter"/>
                <a:ea typeface="Inter"/>
              </a:rPr>
              <a:t>THE ASSESSMENT ENGINE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3F602A0-7888-460A-9DCC-3E1A4B1AABBA}"/>
              </a:ext>
            </a:extLst>
          </p:cNvPr>
          <p:cNvSpPr txBox="1"/>
          <p:nvPr/>
        </p:nvSpPr>
        <p:spPr>
          <a:xfrm>
            <a:off x="8343900" y="2305050"/>
            <a:ext cx="285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2EDE4"/>
                </a:solidFill>
                <a:latin typeface="Montserrat"/>
                <a:ea typeface="Montserrat"/>
              </a:rPr>
              <a:t>Six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C9E2895-40B0-408C-987E-F5B35509D01A}"/>
              </a:ext>
            </a:extLst>
          </p:cNvPr>
          <p:cNvSpPr txBox="1"/>
          <p:nvPr/>
        </p:nvSpPr>
        <p:spPr>
          <a:xfrm>
            <a:off x="8343900" y="2743200"/>
            <a:ext cx="2857500" cy="2590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Situational judgment: a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fifth type, no answer key.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Peer benchmarks: a score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sits alone.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Follow-ups on a submitted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answer.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Blind review: identity still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reaches the reviewer.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A second test off the first.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CV into the record: reads it,</a:t>
            </a:r>
          </a:p>
          <a:p>
            <a:pPr algn="l">
              <a:lnSpc>
                <a:spcPct val="136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never saves it.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6BCF030-9573-4AC0-8A50-56697454CA57}"/>
              </a:ext>
            </a:extLst>
          </p:cNvPr>
          <p:cNvSpPr txBox="1"/>
          <p:nvPr/>
        </p:nvSpPr>
        <p:spPr>
          <a:xfrm>
            <a:off x="762000" y="621030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A79E92"/>
                </a:solidFill>
                <a:latin typeface="Inter"/>
                <a:ea typeface="Inter"/>
              </a:rPr>
              <a:t>Eleven of these came out of the spec-versus-code audits, not out of imagination — each one is a promise the site or the Guide still makes somewhere.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7BC689C-8875-4A21-AD78-F4FF638D4B3F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8 engineering debts, named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5017AA7-3D6A-4942-9B26-89BA48D0ACBB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EC3C5D3-5759-48D3-9D48-ACF1B085939B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Eight items are working code that is heavier than it should be. Here they are, with what each one costs.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89A7359-17BE-47A5-8EC5-4AA310983A03}"/>
              </a:ext>
            </a:extLst>
          </p:cNvPr>
          <p:cNvSpPr/>
          <p:nvPr/>
        </p:nvSpPr>
        <p:spPr>
          <a:xfrm>
            <a:off x="762000" y="1866900"/>
            <a:ext cx="5219700" cy="409575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06D26E1-0693-4C08-8741-B6D6DB4170A2}"/>
              </a:ext>
            </a:extLst>
          </p:cNvPr>
          <p:cNvSpPr/>
          <p:nvPr/>
        </p:nvSpPr>
        <p:spPr>
          <a:xfrm>
            <a:off x="6210300" y="1866900"/>
            <a:ext cx="5219700" cy="4095750"/>
          </a:xfrm>
          <a:prstGeom prst="roundRect">
            <a:avLst/>
          </a:prstGeom>
          <a:solidFill>
            <a:srgbClr val="1D1A16"/>
          </a:solidFill>
          <a:ln w="12700">
            <a:solidFill>
              <a:srgbClr val="3531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EDE6733-581D-4952-B0A6-0F9F53317E54}"/>
              </a:ext>
            </a:extLst>
          </p:cNvPr>
          <p:cNvSpPr txBox="1"/>
          <p:nvPr/>
        </p:nvSpPr>
        <p:spPr>
          <a:xfrm>
            <a:off x="1028700" y="2133600"/>
            <a:ext cx="4686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FA3B8"/>
                </a:solidFill>
                <a:latin typeface="Inter"/>
                <a:ea typeface="Inter"/>
              </a:rPr>
              <a:t>The eight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3790C77-94DA-4546-A5CD-5261E6CCF6AC}"/>
              </a:ext>
            </a:extLst>
          </p:cNvPr>
          <p:cNvSpPr txBox="1"/>
          <p:nvPr/>
        </p:nvSpPr>
        <p:spPr>
          <a:xfrm>
            <a:off x="1028700" y="2514600"/>
            <a:ext cx="46863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· Auth reads — session, role, timeout, on every render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· List reads that are not paginated or aggregated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(one openings grid now is; the rest are not)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· The live poll's cost, and the full refresh it still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triggers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· No repository layer beside the domain modules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· tools.ts imports from @/app: the chat is welded to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the page layer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· Six client files too big to hold in your head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· Dead components, and two dependencies that nothing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  imports</a:t>
            </a:r>
          </a:p>
          <a:p>
            <a:pPr algn="l">
              <a:lnSpc>
                <a:spcPct val="158000"/>
              </a:lnSpc>
            </a:pPr>
            <a:r>
              <a:rPr sz="1100">
                <a:solidFill>
                  <a:srgbClr val="C9C1B6"/>
                </a:solidFill>
                <a:latin typeface="Inter"/>
                <a:ea typeface="Inter"/>
              </a:rPr>
              <a:t>· The role editor's gate is not the RLS policy's gate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2E2F10C-78CA-45C7-9186-CABF3BBF3372}"/>
              </a:ext>
            </a:extLst>
          </p:cNvPr>
          <p:cNvSpPr txBox="1"/>
          <p:nvPr/>
        </p:nvSpPr>
        <p:spPr>
          <a:xfrm>
            <a:off x="6477000" y="2133600"/>
            <a:ext cx="4686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B98F5E"/>
                </a:solidFill>
                <a:latin typeface="Inter"/>
                <a:ea typeface="Inter"/>
              </a:rPr>
              <a:t>None of it is a fire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757F41A-2B7C-4D78-AB7C-E906AF638C93}"/>
              </a:ext>
            </a:extLst>
          </p:cNvPr>
          <p:cNvSpPr txBox="1"/>
          <p:nvPr/>
        </p:nvSpPr>
        <p:spPr>
          <a:xfrm>
            <a:off x="6477000" y="2514600"/>
            <a:ext cx="468630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Nothing here is a bug or a risk to a candidate's data.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It is the price of 215 commits at this pace.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Two the migration forces anyway — the repository layer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and splitting tools.ts. Doing them first means the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cut-over touches code already in the shape it wants.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And two lines of copy overpromise: the analytics export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permission describes a reach it does not have, and since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this morning the AI capability list names a Settings →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Languages console with no route behind it. Now logged.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127DC53-896F-48D6-AA97-71DA7943D028}"/>
              </a:ext>
            </a:extLst>
          </p:cNvPr>
          <p:cNvSpPr txBox="1"/>
          <p:nvPr/>
        </p:nvSpPr>
        <p:spPr>
          <a:xfrm>
            <a:off x="762000" y="621030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A79E92"/>
                </a:solidFill>
                <a:latin typeface="Inter"/>
                <a:ea typeface="Inter"/>
              </a:rPr>
              <a:t>The two dependencies are in package.json today and imported by nothing — which is why I left them uncommitted rather than shipping them with the rest.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8DCA287-A94F-42FE-9B1C-28407BC0D576}"/>
              </a:ext>
            </a:extLst>
          </p:cNvPr>
          <p:cNvSpPr txBox="1"/>
          <p:nvPr/>
        </p:nvSpPr>
        <p:spPr>
          <a:xfrm>
            <a:off x="762000" y="4953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Live risks that are not code bugs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E83ECDA-7DE9-41EB-9D0D-1FEB976C40DE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14EC210-4342-4027-AFFE-1AC2F42DAC59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Six things that can make the app look broken when the code is fine — or look fine when it is not.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1D1A132-9C34-4628-9439-D67B54C7AE23}"/>
              </a:ext>
            </a:extLst>
          </p:cNvPr>
          <p:cNvSpPr/>
          <p:nvPr/>
        </p:nvSpPr>
        <p:spPr>
          <a:xfrm>
            <a:off x="762000" y="1809750"/>
            <a:ext cx="3295650" cy="1905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BF63205-BD32-443C-8D69-25A08D31902A}"/>
              </a:ext>
            </a:extLst>
          </p:cNvPr>
          <p:cNvSpPr/>
          <p:nvPr/>
        </p:nvSpPr>
        <p:spPr>
          <a:xfrm>
            <a:off x="4438650" y="1809750"/>
            <a:ext cx="3295650" cy="1905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7E2DFEE-3257-4D6B-8ADB-4F858AF1EC95}"/>
              </a:ext>
            </a:extLst>
          </p:cNvPr>
          <p:cNvSpPr/>
          <p:nvPr/>
        </p:nvSpPr>
        <p:spPr>
          <a:xfrm>
            <a:off x="8115300" y="1809750"/>
            <a:ext cx="3314700" cy="1905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7CB363C-2233-4DC9-9183-1F9C0C74DFA4}"/>
              </a:ext>
            </a:extLst>
          </p:cNvPr>
          <p:cNvSpPr/>
          <p:nvPr/>
        </p:nvSpPr>
        <p:spPr>
          <a:xfrm>
            <a:off x="762000" y="3905250"/>
            <a:ext cx="3295650" cy="1905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BF22B29-3290-43B8-A290-41CDF86D5539}"/>
              </a:ext>
            </a:extLst>
          </p:cNvPr>
          <p:cNvSpPr/>
          <p:nvPr/>
        </p:nvSpPr>
        <p:spPr>
          <a:xfrm>
            <a:off x="4438650" y="3905250"/>
            <a:ext cx="3295650" cy="1905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FFC4E63-45BF-4AC6-B06B-844C4C8AE027}"/>
              </a:ext>
            </a:extLst>
          </p:cNvPr>
          <p:cNvSpPr/>
          <p:nvPr/>
        </p:nvSpPr>
        <p:spPr>
          <a:xfrm>
            <a:off x="8115300" y="3905250"/>
            <a:ext cx="3314700" cy="190500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0F8F24A-C2B8-4393-8DC3-9A2B954DC863}"/>
              </a:ext>
            </a:extLst>
          </p:cNvPr>
          <p:cNvSpPr txBox="1"/>
          <p:nvPr/>
        </p:nvSpPr>
        <p:spPr>
          <a:xfrm>
            <a:off x="990600" y="1981200"/>
            <a:ext cx="283845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7FA3B8"/>
                </a:solidFill>
                <a:latin typeface="Montserrat"/>
                <a:ea typeface="Montserrat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1457011-2159-44EE-BC9E-EC27AAD12FF3}"/>
              </a:ext>
            </a:extLst>
          </p:cNvPr>
          <p:cNvSpPr txBox="1"/>
          <p:nvPr/>
        </p:nvSpPr>
        <p:spPr>
          <a:xfrm>
            <a:off x="990600" y="24193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F2EDE4"/>
                </a:solidFill>
                <a:latin typeface="Inter"/>
                <a:ea typeface="Inter"/>
              </a:rPr>
              <a:t>CRONS THAT NEVER FIRE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28A476E-E0CE-46E2-B9AA-6A646927374D}"/>
              </a:ext>
            </a:extLst>
          </p:cNvPr>
          <p:cNvSpPr txBox="1"/>
          <p:nvPr/>
        </p:nvSpPr>
        <p:spPr>
          <a:xfrm>
            <a:off x="990600" y="2686050"/>
            <a:ext cx="28384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The grading sweep and the WhatsApp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dispatcher are guarded routes with no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timer behind them. An attempt can sit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submitted; a notice can sit queued.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529DAEA-AE8C-45F7-B257-4DBCA52895E9}"/>
              </a:ext>
            </a:extLst>
          </p:cNvPr>
          <p:cNvSpPr txBox="1"/>
          <p:nvPr/>
        </p:nvSpPr>
        <p:spPr>
          <a:xfrm>
            <a:off x="4667250" y="1981200"/>
            <a:ext cx="283845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7FA3B8"/>
                </a:solidFill>
                <a:latin typeface="Montserrat"/>
                <a:ea typeface="Montserrat"/>
              </a:rPr>
              <a:t>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F71379D-389D-41BA-ADB0-D8539B35F96B}"/>
              </a:ext>
            </a:extLst>
          </p:cNvPr>
          <p:cNvSpPr txBox="1"/>
          <p:nvPr/>
        </p:nvSpPr>
        <p:spPr>
          <a:xfrm>
            <a:off x="4667250" y="24193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F2EDE4"/>
                </a:solidFill>
                <a:latin typeface="Inter"/>
                <a:ea typeface="Inter"/>
              </a:rPr>
              <a:t>DATABASE FOR EVERYTHING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073B88F-655F-46FD-9556-48E69F4657A3}"/>
              </a:ext>
            </a:extLst>
          </p:cNvPr>
          <p:cNvSpPr txBox="1"/>
          <p:nvPr/>
        </p:nvSpPr>
        <p:spPr>
          <a:xfrm>
            <a:off x="4667250" y="2686050"/>
            <a:ext cx="28384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There is no staging. A verification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writes a real row into the pipeline and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then deletes it — which is why I ask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before I run one.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691A201-9116-4EF2-A59B-7B179F8BB36E}"/>
              </a:ext>
            </a:extLst>
          </p:cNvPr>
          <p:cNvSpPr txBox="1"/>
          <p:nvPr/>
        </p:nvSpPr>
        <p:spPr>
          <a:xfrm>
            <a:off x="8343900" y="1981200"/>
            <a:ext cx="285750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7FA3B8"/>
                </a:solidFill>
                <a:latin typeface="Montserrat"/>
                <a:ea typeface="Montserrat"/>
              </a:rPr>
              <a:t>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6103390-62DF-446F-8FF3-691B27477AF9}"/>
              </a:ext>
            </a:extLst>
          </p:cNvPr>
          <p:cNvSpPr txBox="1"/>
          <p:nvPr/>
        </p:nvSpPr>
        <p:spPr>
          <a:xfrm>
            <a:off x="8343900" y="24193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F2EDE4"/>
                </a:solidFill>
                <a:latin typeface="Inter"/>
                <a:ea typeface="Inter"/>
              </a:rPr>
              <a:t>ROLES NO ONE CAN HOLD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AE814DC-29DD-4620-AE64-164503668CFB}"/>
              </a:ext>
            </a:extLst>
          </p:cNvPr>
          <p:cNvSpPr txBox="1"/>
          <p:nvPr/>
        </p:nvSpPr>
        <p:spPr>
          <a:xfrm>
            <a:off x="8343900" y="2686050"/>
            <a:ext cx="28575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Subsidiary HR Manager and Interviewer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exist in the type but not in the live role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table, so no permission set built on them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can be assigned.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0FBE6DA-0CD5-419E-9E31-2E95D39E980E}"/>
              </a:ext>
            </a:extLst>
          </p:cNvPr>
          <p:cNvSpPr txBox="1"/>
          <p:nvPr/>
        </p:nvSpPr>
        <p:spPr>
          <a:xfrm>
            <a:off x="990600" y="4076700"/>
            <a:ext cx="283845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7FA3B8"/>
                </a:solidFill>
                <a:latin typeface="Montserrat"/>
                <a:ea typeface="Montserrat"/>
              </a:rPr>
              <a:t>024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4129E7D-7355-4B16-9B30-68C3B1FA10C6}"/>
              </a:ext>
            </a:extLst>
          </p:cNvPr>
          <p:cNvSpPr txBox="1"/>
          <p:nvPr/>
        </p:nvSpPr>
        <p:spPr>
          <a:xfrm>
            <a:off x="990600" y="45148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F2EDE4"/>
                </a:solidFill>
                <a:latin typeface="Inter"/>
                <a:ea typeface="Inter"/>
              </a:rPr>
              <a:t>SCHEMA THAT DRIFTS FROM FILES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A78628B-53B7-4A46-973B-EA446C77D56A}"/>
              </a:ext>
            </a:extLst>
          </p:cNvPr>
          <p:cNvSpPr txBox="1"/>
          <p:nvPr/>
        </p:nvSpPr>
        <p:spPr>
          <a:xfrm>
            <a:off x="990600" y="4781550"/>
            <a:ext cx="28384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The migration files are not the applied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database. 024 is still unapplied, and the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funnel it enables is the one analytics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keeps promising.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9FDBEEC-A704-463B-8E00-97AC3CC49611}"/>
              </a:ext>
            </a:extLst>
          </p:cNvPr>
          <p:cNvSpPr txBox="1"/>
          <p:nvPr/>
        </p:nvSpPr>
        <p:spPr>
          <a:xfrm>
            <a:off x="4667250" y="4076700"/>
            <a:ext cx="283845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7FA3B8"/>
                </a:solidFill>
                <a:latin typeface="Montserrat"/>
                <a:ea typeface="Montserrat"/>
              </a:rPr>
              <a:t>429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B9360FE-91A6-4A35-B94E-5AE03FB36400}"/>
              </a:ext>
            </a:extLst>
          </p:cNvPr>
          <p:cNvSpPr txBox="1"/>
          <p:nvPr/>
        </p:nvSpPr>
        <p:spPr>
          <a:xfrm>
            <a:off x="4667250" y="45148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F2EDE4"/>
                </a:solidFill>
                <a:latin typeface="Inter"/>
                <a:ea typeface="Inter"/>
              </a:rPr>
              <a:t>WEATHER, NOT FAULTS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A08B9BA-3711-43D5-B6B8-2F740C2E9B26}"/>
              </a:ext>
            </a:extLst>
          </p:cNvPr>
          <p:cNvSpPr txBox="1"/>
          <p:nvPr/>
        </p:nvSpPr>
        <p:spPr>
          <a:xfrm>
            <a:off x="4667250" y="4781550"/>
            <a:ext cx="28384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A daily quota on one free tier, a per-model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flap on another. A screen that fails once is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usually a retry, not a bug — the failover is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what absorbs it.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E3CCF39-C2E6-4C36-B1EC-55D74D9BA5F2}"/>
              </a:ext>
            </a:extLst>
          </p:cNvPr>
          <p:cNvSpPr txBox="1"/>
          <p:nvPr/>
        </p:nvSpPr>
        <p:spPr>
          <a:xfrm>
            <a:off x="8343900" y="4076700"/>
            <a:ext cx="285750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7FA3B8"/>
                </a:solidFill>
                <a:latin typeface="Montserrat"/>
                <a:ea typeface="Montserrat"/>
              </a:rPr>
              <a:t>2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C295A90-81DB-4CDA-BA66-4C4E0AEFCB86}"/>
              </a:ext>
            </a:extLst>
          </p:cNvPr>
          <p:cNvSpPr txBox="1"/>
          <p:nvPr/>
        </p:nvSpPr>
        <p:spPr>
          <a:xfrm>
            <a:off x="8343900" y="45148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F2EDE4"/>
                </a:solidFill>
                <a:latin typeface="Inter"/>
                <a:ea typeface="Inter"/>
              </a:rPr>
              <a:t>PLATFORMS UNDERNEATH IT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7382A58-1665-4666-B019-137645D3AB57}"/>
              </a:ext>
            </a:extLst>
          </p:cNvPr>
          <p:cNvSpPr txBox="1"/>
          <p:nvPr/>
        </p:nvSpPr>
        <p:spPr>
          <a:xfrm>
            <a:off x="8343900" y="4781550"/>
            <a:ext cx="28575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Supabase and Vercel. Decided to leave,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six constraints agreed, no design written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yet. Until then the app cannot be run or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proved off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F1516BC-B63B-4A1B-A807-AC84DE199EB7}"/>
              </a:ext>
            </a:extLst>
          </p:cNvPr>
          <p:cNvSpPr txBox="1"/>
          <p:nvPr/>
        </p:nvSpPr>
        <p:spPr>
          <a:xfrm>
            <a:off x="762000" y="495300"/>
            <a:ext cx="10858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Off Supabase and Vercel: today versus target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EAADDD3-FF78-4967-ABCB-475C317B5064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E2553C0-69E9-4B2C-A3B9-6B4514805BDB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The decision is made and its constraints are agreed. No migration code exists yet.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EFDDAA2-1BB4-46E4-9EA2-72308ECF2318}"/>
              </a:ext>
            </a:extLst>
          </p:cNvPr>
          <p:cNvSpPr/>
          <p:nvPr/>
        </p:nvSpPr>
        <p:spPr>
          <a:xfrm>
            <a:off x="762000" y="1866900"/>
            <a:ext cx="5219700" cy="390525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EE3A445-13A2-4469-B084-26F3D8332964}"/>
              </a:ext>
            </a:extLst>
          </p:cNvPr>
          <p:cNvSpPr/>
          <p:nvPr/>
        </p:nvSpPr>
        <p:spPr>
          <a:xfrm>
            <a:off x="6210300" y="1866900"/>
            <a:ext cx="5219700" cy="3905250"/>
          </a:xfrm>
          <a:prstGeom prst="roundRect">
            <a:avLst/>
          </a:prstGeom>
          <a:solidFill>
            <a:srgbClr val="181D21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BEEF8B3-F6B4-4226-B504-730545ACF605}"/>
              </a:ext>
            </a:extLst>
          </p:cNvPr>
          <p:cNvSpPr txBox="1"/>
          <p:nvPr/>
        </p:nvSpPr>
        <p:spPr>
          <a:xfrm>
            <a:off x="1028700" y="2095500"/>
            <a:ext cx="4686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FA3B8"/>
                </a:solidFill>
                <a:latin typeface="Inter"/>
                <a:ea typeface="Inter"/>
              </a:rPr>
              <a:t>Where it leans today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D3EAB5-464C-424B-9F7F-CADF3995C560}"/>
              </a:ext>
            </a:extLst>
          </p:cNvPr>
          <p:cNvSpPr txBox="1"/>
          <p:nvPr/>
        </p:nvSpPr>
        <p:spPr>
          <a:xfrm>
            <a:off x="1028700" y="2457450"/>
            <a:ext cx="46863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@supabase/ssr and supabase-js on both sides;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the anon key ships to the browser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supabase.auth.getUser() inside every session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read and every requireStaff guard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444 table reads in 65 files, plus 26 bucket refs, with PostgREST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embeds such as job_openings(title)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94 policies, 12 of them calling auth.uid(),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five reading storage.foldername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buckets, storage.objects, the vault extension,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all created in the schema of record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· Vercel still holds cron and the environment;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assessment links now use APP_URL (#313)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3EFB32A-7372-4475-9FFA-09896391CA6F}"/>
              </a:ext>
            </a:extLst>
          </p:cNvPr>
          <p:cNvSpPr txBox="1"/>
          <p:nvPr/>
        </p:nvSpPr>
        <p:spPr>
          <a:xfrm>
            <a:off x="6477000" y="2095500"/>
            <a:ext cx="4686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FA3B8"/>
                </a:solidFill>
                <a:latin typeface="Inter"/>
                <a:ea typeface="Inter"/>
              </a:rPr>
              <a:t>Six constraints you agreed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62DF38A-EACA-40B0-9A04-8ABBA60F2121}"/>
              </a:ext>
            </a:extLst>
          </p:cNvPr>
          <p:cNvSpPr txBox="1"/>
          <p:nvPr/>
        </p:nvSpPr>
        <p:spPr>
          <a:xfrm>
            <a:off x="6477000" y="2457450"/>
            <a:ext cx="46863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8000"/>
              </a:lnSpc>
            </a:pPr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1. Carry everything over: one dump, restored,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   encryption at rest on rented disk.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2. Keep the RLS model. Stand in auth and storage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   schemas; the data layer sets the JWT claims.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3. Hand-roll sessions over the migrated bcrypt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     hashes, with our own sessions table.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4. Self-host PostgREST, so the 444 queries stay.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5. A disk volume plus a files table we own.</a:t>
            </a:r>
            <a:br/>
            <a:r>
              <a:rPr sz="1150">
                <a:solidFill>
                  <a:srgbClr val="C9C1B6"/>
                </a:solidFill>
                <a:latin typeface="Inter"/>
                <a:ea typeface="Inter"/>
              </a:rPr>
              <a:t>6. One planned freeze, not a long dual run.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7C68909-8599-4203-95D8-4FD2F47D26E7}"/>
              </a:ext>
            </a:extLst>
          </p:cNvPr>
          <p:cNvSpPr txBox="1"/>
          <p:nvPr/>
        </p:nvSpPr>
        <p:spPr>
          <a:xfrm>
            <a:off x="762000" y="5867400"/>
            <a:ext cx="1066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A79E92"/>
                </a:solidFill>
                <a:latin typeface="Inter"/>
                <a:ea typeface="Inter"/>
              </a:rPr>
              <a:t>Still open: which of three approaches to take, and the design document that has not been written.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CBC4DA0-F85B-4E10-A5CC-93328D1AB983}"/>
              </a:ext>
            </a:extLst>
          </p:cNvPr>
          <p:cNvSpPr txBox="1"/>
          <p:nvPr/>
        </p:nvSpPr>
        <p:spPr>
          <a:xfrm>
            <a:off x="762000" y="6191250"/>
            <a:ext cx="10668000" cy="49011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4000"/>
              </a:lnSpc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The order is forced: </a:t>
            </a: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the hosted PostgREST rejects a token we sign ourselves, so the self-hosted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one has to be running before the identity port can be proved.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FF070A2-A423-4183-9619-9B44B86AE127}"/>
              </a:ext>
            </a:extLst>
          </p:cNvPr>
          <p:cNvSpPr txBox="1"/>
          <p:nvPr/>
        </p:nvSpPr>
        <p:spPr>
          <a:xfrm>
            <a:off x="762000" y="4953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EDE4"/>
                </a:solidFill>
                <a:latin typeface="Montserrat"/>
                <a:ea typeface="Montserrat"/>
              </a:rPr>
              <a:t>Eight decisions you have already made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7D5E4AD-EA34-4716-BD74-1E59C9C845B0}"/>
              </a:ext>
            </a:extLst>
          </p:cNvPr>
          <p:cNvSpPr/>
          <p:nvPr/>
        </p:nvSpPr>
        <p:spPr>
          <a:xfrm>
            <a:off x="762000" y="106680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FE30C9-0B7F-41FF-BEA9-293D0B87C051}"/>
              </a:ext>
            </a:extLst>
          </p:cNvPr>
          <p:cNvSpPr txBox="1"/>
          <p:nvPr/>
        </p:nvSpPr>
        <p:spPr>
          <a:xfrm>
            <a:off x="762000" y="123825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The platform migration is not undecided. Its shape was settled in one sitting; only the approach is still open.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B0672C0-DAAC-456C-83AC-33601F179F66}"/>
              </a:ext>
            </a:extLst>
          </p:cNvPr>
          <p:cNvSpPr txBox="1"/>
          <p:nvPr/>
        </p:nvSpPr>
        <p:spPr>
          <a:xfrm>
            <a:off x="762000" y="2038350"/>
            <a:ext cx="2857500" cy="1428750"/>
          </a:xfrm>
        </p:spPr>
        <p:txBody>
          <a:bodyPr wrap="square" rtlCol="0" lIns="0" tIns="0" rIns="0" bIns="0" anchor="t"/>
          <a:lstStyle/>
          <a:p>
            <a:r>
              <a:rPr sz="8000" b="1">
                <a:solidFill>
                  <a:srgbClr val="B98F5E"/>
                </a:solidFill>
                <a:latin typeface="Montserrat"/>
                <a:ea typeface="Montserrat"/>
              </a:rPr>
              <a:t>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B17FADC-DF56-4711-B52F-11326618D94F}"/>
              </a:ext>
            </a:extLst>
          </p:cNvPr>
          <p:cNvSpPr txBox="1"/>
          <p:nvPr/>
        </p:nvSpPr>
        <p:spPr>
          <a:xfrm>
            <a:off x="762000" y="3543300"/>
            <a:ext cx="2857500" cy="29260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F2EDE4"/>
                </a:solidFill>
                <a:latin typeface="Montserrat"/>
                <a:ea typeface="Montserrat"/>
              </a:rPr>
              <a:t>decisions, agreed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697CFF8-9498-4601-B7B9-D5BA28B10F17}"/>
              </a:ext>
            </a:extLst>
          </p:cNvPr>
          <p:cNvSpPr txBox="1"/>
          <p:nvPr/>
        </p:nvSpPr>
        <p:spPr>
          <a:xfrm>
            <a:off x="762000" y="3924300"/>
            <a:ext cx="28575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A79E92"/>
                </a:solidFill>
                <a:latin typeface="Inter"/>
                <a:ea typeface="Inter"/>
              </a:rPr>
              <a:t>Every one came back as the</a:t>
            </a:r>
            <a:br/>
            <a:r>
              <a:rPr sz="1150">
                <a:solidFill>
                  <a:srgbClr val="A79E92"/>
                </a:solidFill>
                <a:latin typeface="Inter"/>
                <a:ea typeface="Inter"/>
              </a:rPr>
              <a:t>recommended option. Worth</a:t>
            </a:r>
            <a:br/>
            <a:r>
              <a:rPr sz="1150">
                <a:solidFill>
                  <a:srgbClr val="A79E92"/>
                </a:solidFill>
                <a:latin typeface="Inter"/>
                <a:ea typeface="Inter"/>
              </a:rPr>
              <a:t>knowing before I design</a:t>
            </a:r>
            <a:br/>
            <a:r>
              <a:rPr sz="1150">
                <a:solidFill>
                  <a:srgbClr val="A79E92"/>
                </a:solidFill>
                <a:latin typeface="Inter"/>
                <a:ea typeface="Inter"/>
              </a:rPr>
              <a:t>against them: the shape is</a:t>
            </a:r>
            <a:br/>
            <a:r>
              <a:rPr sz="1150">
                <a:solidFill>
                  <a:srgbClr val="A79E92"/>
                </a:solidFill>
                <a:latin typeface="Inter"/>
                <a:ea typeface="Inter"/>
              </a:rPr>
              <a:t>yours, the labour is mine.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D56D7D6-C062-4EE4-B380-CDEFCBBCA53C}"/>
              </a:ext>
            </a:extLst>
          </p:cNvPr>
          <p:cNvSpPr txBox="1"/>
          <p:nvPr/>
        </p:nvSpPr>
        <p:spPr>
          <a:xfrm>
            <a:off x="4191000" y="2000250"/>
            <a:ext cx="7239000" cy="2952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72000"/>
              </a:lnSpc>
            </a:pPr>
            <a:r>
              <a:rPr sz="1400">
                <a:solidFill>
                  <a:srgbClr val="C9C1B6"/>
                </a:solidFill>
                <a:latin typeface="Inter"/>
                <a:ea typeface="Inter"/>
              </a:rPr>
              <a:t>1   Own the whole stack — sovereignty, not cost</a:t>
            </a:r>
            <a:br/>
            <a:r>
              <a:rPr sz="1400">
                <a:solidFill>
                  <a:srgbClr val="C9C1B6"/>
                </a:solidFill>
                <a:latin typeface="Inter"/>
                <a:ea typeface="Inter"/>
              </a:rPr>
              <a:t>2   A VPS you rent, with Docker Compose</a:t>
            </a:r>
            <a:br/>
            <a:r>
              <a:rPr sz="1400">
                <a:solidFill>
                  <a:srgbClr val="C9C1B6"/>
                </a:solidFill>
                <a:latin typeface="Inter"/>
                <a:ea typeface="Inter"/>
              </a:rPr>
              <a:t>3   Carry every row over: one dump, restored</a:t>
            </a:r>
            <a:br/>
            <a:r>
              <a:rPr sz="1400">
                <a:solidFill>
                  <a:srgbClr val="C9C1B6"/>
                </a:solidFill>
                <a:latin typeface="Inter"/>
                <a:ea typeface="Inter"/>
              </a:rPr>
              <a:t>4   Keep the RLS model — a shim, 94 policies intact</a:t>
            </a:r>
            <a:br/>
            <a:r>
              <a:rPr sz="1400">
                <a:solidFill>
                  <a:srgbClr val="C9C1B6"/>
                </a:solidFill>
                <a:latin typeface="Inter"/>
                <a:ea typeface="Inter"/>
              </a:rPr>
              <a:t>5   Sign people in by hand, over the migrated hashes</a:t>
            </a:r>
            <a:br/>
            <a:r>
              <a:rPr sz="1400">
                <a:solidFill>
                  <a:srgbClr val="C9C1B6"/>
                </a:solidFill>
                <a:latin typeface="Inter"/>
                <a:ea typeface="Inter"/>
              </a:rPr>
              <a:t>6   Self-host PostgREST, so the query code does not move</a:t>
            </a:r>
            <a:br/>
            <a:r>
              <a:rPr sz="1400">
                <a:solidFill>
                  <a:srgbClr val="C9C1B6"/>
                </a:solidFill>
                <a:latin typeface="Inter"/>
                <a:ea typeface="Inter"/>
              </a:rPr>
              <a:t>7   Files on a disk volume, with a table we own</a:t>
            </a:r>
            <a:br/>
            <a:r>
              <a:rPr sz="1400">
                <a:solidFill>
                  <a:srgbClr val="C9C1B6"/>
                </a:solidFill>
                <a:latin typeface="Inter"/>
                <a:ea typeface="Inter"/>
              </a:rPr>
              <a:t>8   One planned freeze, not a long dual run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E8C0EA7-432D-4362-9636-4AAC4FF304EE}"/>
              </a:ext>
            </a:extLst>
          </p:cNvPr>
          <p:cNvSpPr/>
          <p:nvPr/>
        </p:nvSpPr>
        <p:spPr>
          <a:xfrm>
            <a:off x="4191000" y="5086350"/>
            <a:ext cx="7239000" cy="9525"/>
          </a:xfrm>
          <a:prstGeom prst="rect">
            <a:avLst/>
          </a:prstGeom>
          <a:solidFill>
            <a:srgbClr val="3531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B478A9-B8A2-4510-8212-7ACAC55303F4}"/>
              </a:ext>
            </a:extLst>
          </p:cNvPr>
          <p:cNvSpPr txBox="1"/>
          <p:nvPr/>
        </p:nvSpPr>
        <p:spPr>
          <a:xfrm>
            <a:off x="4191000" y="5257800"/>
            <a:ext cx="7239000" cy="757123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8000"/>
              </a:lnSpc>
            </a:pPr>
            <a:r>
              <a:rPr sz="1200" b="1">
                <a:solidFill>
                  <a:srgbClr val="B98F5E"/>
                </a:solidFill>
                <a:latin typeface="Inter"/>
                <a:ea typeface="Inter"/>
              </a:rPr>
              <a:t>What they rule out: </a:t>
            </a: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Kubernetes, a managed Postgres, a serverless function, a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second app server, and any design that asks me to rewrite some 470 query call sites.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One thing is still open: which of three approaches to design against.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42CE17F-DE89-440D-A473-E36F889861A7}"/>
              </a:ext>
            </a:extLst>
          </p:cNvPr>
          <p:cNvSpPr txBox="1"/>
          <p:nvPr/>
        </p:nvSpPr>
        <p:spPr>
          <a:xfrm>
            <a:off x="762000" y="61912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A79E92"/>
                </a:solidFill>
                <a:latin typeface="Inter"/>
                <a:ea typeface="Inter"/>
              </a:rPr>
              <a:t>Nothing on this page is built. Decisions are the cheap half; they are also the half that lets the expensive half be designed once.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F5323F4-8EF5-4B2A-8854-F32DFA85E8B5}"/>
              </a:ext>
            </a:extLst>
          </p:cNvPr>
          <p:cNvSpPr txBox="1"/>
          <p:nvPr/>
        </p:nvSpPr>
        <p:spPr>
          <a:xfrm>
            <a:off x="762000" y="533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F2EDE4"/>
                </a:solidFill>
                <a:latin typeface="Montserrat"/>
                <a:ea typeface="Montserrat"/>
              </a:rPr>
              <a:t>What I need from you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030D2DA-209F-4003-B6AD-2F85D4C41946}"/>
              </a:ext>
            </a:extLst>
          </p:cNvPr>
          <p:cNvSpPr/>
          <p:nvPr/>
        </p:nvSpPr>
        <p:spPr>
          <a:xfrm>
            <a:off x="762000" y="1162050"/>
            <a:ext cx="1238250" cy="28575"/>
          </a:xfrm>
          <a:prstGeom prst="rect">
            <a:avLst/>
          </a:prstGeom>
          <a:solidFill>
            <a:srgbClr val="B98F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2D57DC-6B93-439F-8377-FF0B7C23F48E}"/>
              </a:ext>
            </a:extLst>
          </p:cNvPr>
          <p:cNvSpPr txBox="1"/>
          <p:nvPr/>
        </p:nvSpPr>
        <p:spPr>
          <a:xfrm>
            <a:off x="762000" y="1333500"/>
            <a:ext cx="1066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9E92"/>
                </a:solidFill>
                <a:latin typeface="Inter"/>
                <a:ea typeface="Inter"/>
              </a:rPr>
              <a:t>Four asks. Everything else on these eighteen pages is already mine to do.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281FD2C-478D-44EA-9F8F-1FEE3E06474A}"/>
              </a:ext>
            </a:extLst>
          </p:cNvPr>
          <p:cNvSpPr/>
          <p:nvPr/>
        </p:nvSpPr>
        <p:spPr>
          <a:xfrm>
            <a:off x="762000" y="1828800"/>
            <a:ext cx="10668000" cy="990600"/>
          </a:xfrm>
          <a:prstGeom prst="roundRect">
            <a:avLst/>
          </a:prstGeom>
          <a:solidFill>
            <a:srgbClr val="16222A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7272682-316D-4377-9FB7-2FA080C343E5}"/>
              </a:ext>
            </a:extLst>
          </p:cNvPr>
          <p:cNvSpPr/>
          <p:nvPr/>
        </p:nvSpPr>
        <p:spPr>
          <a:xfrm>
            <a:off x="762000" y="2933700"/>
            <a:ext cx="10668000" cy="990600"/>
          </a:xfrm>
          <a:prstGeom prst="roundRect">
            <a:avLst/>
          </a:prstGeom>
          <a:solidFill>
            <a:srgbClr val="16222A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CAD7B79-B937-4F9B-AA34-35EDCBDC3F4A}"/>
              </a:ext>
            </a:extLst>
          </p:cNvPr>
          <p:cNvSpPr/>
          <p:nvPr/>
        </p:nvSpPr>
        <p:spPr>
          <a:xfrm>
            <a:off x="762000" y="4038600"/>
            <a:ext cx="10668000" cy="990600"/>
          </a:xfrm>
          <a:prstGeom prst="roundRect">
            <a:avLst/>
          </a:prstGeom>
          <a:solidFill>
            <a:srgbClr val="16222A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480EA86-87FD-4608-B9B1-182919A42682}"/>
              </a:ext>
            </a:extLst>
          </p:cNvPr>
          <p:cNvSpPr/>
          <p:nvPr/>
        </p:nvSpPr>
        <p:spPr>
          <a:xfrm>
            <a:off x="762000" y="5143500"/>
            <a:ext cx="10668000" cy="990600"/>
          </a:xfrm>
          <a:prstGeom prst="roundRect">
            <a:avLst/>
          </a:prstGeom>
          <a:solidFill>
            <a:srgbClr val="16222A"/>
          </a:solidFill>
          <a:ln w="12700">
            <a:solidFill>
              <a:srgbClr val="2C3A4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7FFB711-DDAD-4916-8835-44B8F34C15B1}"/>
              </a:ext>
            </a:extLst>
          </p:cNvPr>
          <p:cNvSpPr txBox="1"/>
          <p:nvPr/>
        </p:nvSpPr>
        <p:spPr>
          <a:xfrm>
            <a:off x="1066800" y="2057400"/>
            <a:ext cx="571500" cy="514350"/>
          </a:xfrm>
        </p:spPr>
        <p:txBody>
          <a:bodyPr wrap="square" rtlCol="0" lIns="0" tIns="0" rIns="0" bIns="0" anchor="t"/>
          <a:lstStyle/>
          <a:p>
            <a:r>
              <a:rPr sz="3000" b="1">
                <a:solidFill>
                  <a:srgbClr val="B98F5E"/>
                </a:solidFill>
                <a:latin typeface="Montserrat"/>
                <a:ea typeface="Montserrat"/>
              </a:rPr>
              <a:t>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08681EF-E2CF-4FAD-8699-B65E8E14B457}"/>
              </a:ext>
            </a:extLst>
          </p:cNvPr>
          <p:cNvSpPr txBox="1"/>
          <p:nvPr/>
        </p:nvSpPr>
        <p:spPr>
          <a:xfrm>
            <a:off x="1866900" y="2019300"/>
            <a:ext cx="9144000" cy="2857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2EDE4"/>
                </a:solidFill>
                <a:latin typeface="Montserrat"/>
                <a:ea typeface="Montserrat"/>
              </a:rPr>
              <a:t>Choose which approach I design the migration against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25772CF-42CA-4D8F-8F10-9A389FDEB8A4}"/>
              </a:ext>
            </a:extLst>
          </p:cNvPr>
          <p:cNvSpPr txBox="1"/>
          <p:nvPr/>
        </p:nvSpPr>
        <p:spPr>
          <a:xfrm>
            <a:off x="1866900" y="2343150"/>
            <a:ext cx="9144000" cy="497434"/>
          </a:xfrm>
        </p:spPr>
        <p:txBody>
          <a:bodyPr wrap="square" rtlCol="0" lIns="0" tIns="0" rIns="0" bIns="0" anchor="t"/>
          <a:lstStyle/>
          <a:p>
            <a:pPr>
              <a:lnSpc>
                <a:spcPct val="136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A, B or C from the three I laid out. I recommended the one that puts the self-hosted PostgREST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first — the hosted one rejects a token we sign ourselves, so nothing else lets identity be proved.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F9F4B03-5A0D-4D8E-B420-B62C5E4D9CB2}"/>
              </a:ext>
            </a:extLst>
          </p:cNvPr>
          <p:cNvSpPr txBox="1"/>
          <p:nvPr/>
        </p:nvSpPr>
        <p:spPr>
          <a:xfrm>
            <a:off x="1066800" y="3162300"/>
            <a:ext cx="571500" cy="514350"/>
          </a:xfrm>
        </p:spPr>
        <p:txBody>
          <a:bodyPr wrap="square" rtlCol="0" lIns="0" tIns="0" rIns="0" bIns="0" anchor="t"/>
          <a:lstStyle/>
          <a:p>
            <a:r>
              <a:rPr sz="3000" b="1">
                <a:solidFill>
                  <a:srgbClr val="B98F5E"/>
                </a:solidFill>
                <a:latin typeface="Montserrat"/>
                <a:ea typeface="Montserrat"/>
              </a:rPr>
              <a:t>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729B8F0-476C-448F-82DC-5CA49AB0C898}"/>
              </a:ext>
            </a:extLst>
          </p:cNvPr>
          <p:cNvSpPr txBox="1"/>
          <p:nvPr/>
        </p:nvSpPr>
        <p:spPr>
          <a:xfrm>
            <a:off x="1866900" y="3124200"/>
            <a:ext cx="9144000" cy="2857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2EDE4"/>
                </a:solidFill>
                <a:latin typeface="Montserrat"/>
                <a:ea typeface="Montserrat"/>
              </a:rPr>
              <a:t>One signed-in hour, on a shared screen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D698BF1-13D5-4606-8B65-C913B3D8DBAD}"/>
              </a:ext>
            </a:extLst>
          </p:cNvPr>
          <p:cNvSpPr txBox="1"/>
          <p:nvPr/>
        </p:nvSpPr>
        <p:spPr>
          <a:xfrm>
            <a:off x="1866900" y="3448050"/>
            <a:ext cx="9144000" cy="497434"/>
          </a:xfrm>
        </p:spPr>
        <p:txBody>
          <a:bodyPr wrap="square" rtlCol="0" lIns="0" tIns="0" rIns="0" bIns="0" anchor="t"/>
          <a:lstStyle/>
          <a:p>
            <a:pPr>
              <a:lnSpc>
                <a:spcPct val="136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Twenty-one open items are browser proofs, and the seeded staff logins no longer work on the live project.</a:t>
            </a:r>
          </a:p>
          <a:p>
            <a:pPr>
              <a:lnSpc>
                <a:spcPct val="136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You sign in once and I walk the list; the portal stops being a set of claims and starts being a worked thing.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8783B18-D505-4FB8-A29D-BEBE69CE1D4A}"/>
              </a:ext>
            </a:extLst>
          </p:cNvPr>
          <p:cNvSpPr txBox="1"/>
          <p:nvPr/>
        </p:nvSpPr>
        <p:spPr>
          <a:xfrm>
            <a:off x="1066800" y="4267200"/>
            <a:ext cx="571500" cy="514350"/>
          </a:xfrm>
        </p:spPr>
        <p:txBody>
          <a:bodyPr wrap="square" rtlCol="0" lIns="0" tIns="0" rIns="0" bIns="0" anchor="t"/>
          <a:lstStyle/>
          <a:p>
            <a:r>
              <a:rPr sz="3000" b="1">
                <a:solidFill>
                  <a:srgbClr val="B98F5E"/>
                </a:solidFill>
                <a:latin typeface="Montserrat"/>
                <a:ea typeface="Montserrat"/>
              </a:rPr>
              <a:t>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258ACD6-3B70-4F40-9B94-42F665BC8D02}"/>
              </a:ext>
            </a:extLst>
          </p:cNvPr>
          <p:cNvSpPr txBox="1"/>
          <p:nvPr/>
        </p:nvSpPr>
        <p:spPr>
          <a:xfrm>
            <a:off x="1866900" y="4229100"/>
            <a:ext cx="9144000" cy="2857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2EDE4"/>
                </a:solidFill>
                <a:latin typeface="Montserrat"/>
                <a:ea typeface="Montserrat"/>
              </a:rPr>
              <a:t>Yes to one live probe that sends a real email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D23B36E-EABC-4489-8F36-EAA5F3100585}"/>
              </a:ext>
            </a:extLst>
          </p:cNvPr>
          <p:cNvSpPr txBox="1"/>
          <p:nvPr/>
        </p:nvSpPr>
        <p:spPr>
          <a:xfrm>
            <a:off x="1866900" y="4552950"/>
            <a:ext cx="9144000" cy="497434"/>
          </a:xfrm>
        </p:spPr>
        <p:txBody>
          <a:bodyPr wrap="square" rtlCol="0" lIns="0" tIns="0" rIns="0" bIns="0" anchor="t"/>
          <a:lstStyle/>
          <a:p>
            <a:pPr>
              <a:lnSpc>
                <a:spcPct val="136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The offer letter is written, attached and retried in code; no message has ever left the building with it.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There is no staging database, so the probe writes a real row and I undo it. That is the whole ask.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A94523B-4F64-4247-82FA-2FE0987BABD3}"/>
              </a:ext>
            </a:extLst>
          </p:cNvPr>
          <p:cNvSpPr txBox="1"/>
          <p:nvPr/>
        </p:nvSpPr>
        <p:spPr>
          <a:xfrm>
            <a:off x="1066800" y="5372100"/>
            <a:ext cx="571500" cy="514350"/>
          </a:xfrm>
        </p:spPr>
        <p:txBody>
          <a:bodyPr wrap="square" rtlCol="0" lIns="0" tIns="0" rIns="0" bIns="0" anchor="t"/>
          <a:lstStyle/>
          <a:p>
            <a:r>
              <a:rPr sz="3000" b="1">
                <a:solidFill>
                  <a:srgbClr val="B98F5E"/>
                </a:solidFill>
                <a:latin typeface="Montserrat"/>
                <a:ea typeface="Montserrat"/>
              </a:rPr>
              <a:t>4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FE6ED2E-4EFD-4EDD-B6FD-FEC4188F831E}"/>
              </a:ext>
            </a:extLst>
          </p:cNvPr>
          <p:cNvSpPr txBox="1"/>
          <p:nvPr/>
        </p:nvSpPr>
        <p:spPr>
          <a:xfrm>
            <a:off x="1866900" y="5334000"/>
            <a:ext cx="9144000" cy="2857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2EDE4"/>
                </a:solidFill>
                <a:latin typeface="Montserrat"/>
                <a:ea typeface="Montserrat"/>
              </a:rPr>
              <a:t>A place to put a timer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EDB85D7-B999-4170-A86F-3C0E33ACA0D6}"/>
              </a:ext>
            </a:extLst>
          </p:cNvPr>
          <p:cNvSpPr txBox="1"/>
          <p:nvPr/>
        </p:nvSpPr>
        <p:spPr>
          <a:xfrm>
            <a:off x="1866900" y="5657850"/>
            <a:ext cx="9144000" cy="497434"/>
          </a:xfrm>
        </p:spPr>
        <p:txBody>
          <a:bodyPr wrap="square" rtlCol="0" lIns="0" tIns="0" rIns="0" bIns="0" anchor="t"/>
          <a:lstStyle/>
          <a:p>
            <a:pPr>
              <a:lnSpc>
                <a:spcPct val="136000"/>
              </a:lnSpc>
            </a:pPr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Two guarded routes exist to re-grade stuck attempts and dispatch the WhatsApp queue, and nothing calls</a:t>
            </a:r>
            <a:br/>
            <a:r>
              <a:rPr sz="1200">
                <a:solidFill>
                  <a:srgbClr val="C9C1B6"/>
                </a:solidFill>
                <a:latin typeface="Inter"/>
                <a:ea typeface="Inter"/>
              </a:rPr>
              <a:t>them. On a rented VPS that is one scheduler in the compose file — a decision about the host, not the code.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E2B22E7-AD66-47C1-B1B7-501BF0AB031D}"/>
              </a:ext>
            </a:extLst>
          </p:cNvPr>
          <p:cNvSpPr txBox="1"/>
          <p:nvPr/>
        </p:nvSpPr>
        <p:spPr>
          <a:xfrm>
            <a:off x="762000" y="6419850"/>
            <a:ext cx="1066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A79E92"/>
                </a:solidFill>
                <a:latin typeface="Inter"/>
                <a:ea typeface="Inter"/>
              </a:rPr>
              <a:t>Sharm Dreams Talent Cloud · state of the build · 20 October 2026 · figures taken from the repository at commit 7eb9f96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